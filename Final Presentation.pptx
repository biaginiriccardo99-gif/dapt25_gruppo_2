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096" r:id="rId8"/>
  </p:sldMasterIdLst>
  <p:notesMasterIdLst>
    <p:notesMasterId r:id="rId15"/>
  </p:notesMasterIdLst>
  <p:handoutMasterIdLst>
    <p:handoutMasterId r:id="rId16"/>
  </p:handoutMasterIdLst>
  <p:sldIdLst>
    <p:sldId id="284" r:id="rId9"/>
    <p:sldId id="305" r:id="rId10"/>
    <p:sldId id="306" r:id="rId11"/>
    <p:sldId id="311" r:id="rId12"/>
    <p:sldId id="337" r:id="rId13"/>
    <p:sldId id="339" r:id="rId14"/>
  </p:sldIdLst>
  <p:sldSz cx="12192000" cy="6858000"/>
  <p:notesSz cx="7315200" cy="96012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EB9FC26-E7CE-4AEB-88B9-FE7102F217CC}">
          <p14:sldIdLst>
            <p14:sldId id="284"/>
            <p14:sldId id="305"/>
            <p14:sldId id="306"/>
            <p14:sldId id="311"/>
            <p14:sldId id="337"/>
            <p14:sldId id="3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ECA0"/>
    <a:srgbClr val="A1CC97"/>
    <a:srgbClr val="F2F5E3"/>
    <a:srgbClr val="86BC25"/>
    <a:srgbClr val="25890D"/>
    <a:srgbClr val="009A44"/>
    <a:srgbClr val="0DF200"/>
    <a:srgbClr val="C8E98D"/>
    <a:srgbClr val="65AB5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5A8DB3-E282-4E37-9EA6-0EE5BE052CE8}" v="13" dt="2026-03-30T14:03:03.4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255" autoAdjust="0"/>
    <p:restoredTop sz="94404" autoAdjust="0"/>
  </p:normalViewPr>
  <p:slideViewPr>
    <p:cSldViewPr snapToGrid="0">
      <p:cViewPr varScale="1">
        <p:scale>
          <a:sx n="85" d="100"/>
          <a:sy n="85" d="100"/>
        </p:scale>
        <p:origin x="72" y="53"/>
      </p:cViewPr>
      <p:guideLst/>
    </p:cSldViewPr>
  </p:slideViewPr>
  <p:notesTextViewPr>
    <p:cViewPr>
      <p:scale>
        <a:sx n="85" d="100"/>
        <a:sy n="85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slide" Target="slides/slide5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customXml" Target="../customXml/item7.xml"/><Relationship Id="rId12" Type="http://schemas.openxmlformats.org/officeDocument/2006/relationships/slide" Target="slides/slide4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5" Type="http://schemas.openxmlformats.org/officeDocument/2006/relationships/customXml" Target="../customXml/item5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no, Michele" userId="1ebd79fc-40dd-4ce4-a515-3032d8891950" providerId="ADAL" clId="{3412B5E1-633C-4355-88E6-50A3D16A1C62}"/>
    <pc:docChg chg="undo custSel modSld">
      <pc:chgData name="Marino, Michele" userId="1ebd79fc-40dd-4ce4-a515-3032d8891950" providerId="ADAL" clId="{3412B5E1-633C-4355-88E6-50A3D16A1C62}" dt="2026-03-30T14:03:03.451" v="1303" actId="165"/>
      <pc:docMkLst>
        <pc:docMk/>
      </pc:docMkLst>
      <pc:sldChg chg="addSp delSp modSp mod">
        <pc:chgData name="Marino, Michele" userId="1ebd79fc-40dd-4ce4-a515-3032d8891950" providerId="ADAL" clId="{3412B5E1-633C-4355-88E6-50A3D16A1C62}" dt="2026-03-30T14:03:03.451" v="1303" actId="165"/>
        <pc:sldMkLst>
          <pc:docMk/>
          <pc:sldMk cId="0" sldId="284"/>
        </pc:sldMkLst>
        <pc:spChg chg="mod topLvl">
          <ac:chgData name="Marino, Michele" userId="1ebd79fc-40dd-4ce4-a515-3032d8891950" providerId="ADAL" clId="{3412B5E1-633C-4355-88E6-50A3D16A1C62}" dt="2026-03-30T14:03:03.451" v="1303" actId="165"/>
          <ac:spMkLst>
            <pc:docMk/>
            <pc:sldMk cId="0" sldId="284"/>
            <ac:spMk id="5" creationId="{0F9BEB70-BE2D-13A3-F755-D09E1E00CA31}"/>
          </ac:spMkLst>
        </pc:spChg>
        <pc:grpChg chg="add del mod">
          <ac:chgData name="Marino, Michele" userId="1ebd79fc-40dd-4ce4-a515-3032d8891950" providerId="ADAL" clId="{3412B5E1-633C-4355-88E6-50A3D16A1C62}" dt="2026-03-30T14:03:03.451" v="1303" actId="165"/>
          <ac:grpSpMkLst>
            <pc:docMk/>
            <pc:sldMk cId="0" sldId="284"/>
            <ac:grpSpMk id="2" creationId="{0929A06C-9EE2-2939-A324-3390F4C0D35B}"/>
          </ac:grpSpMkLst>
        </pc:grpChg>
        <pc:picChg chg="mod topLvl">
          <ac:chgData name="Marino, Michele" userId="1ebd79fc-40dd-4ce4-a515-3032d8891950" providerId="ADAL" clId="{3412B5E1-633C-4355-88E6-50A3D16A1C62}" dt="2026-03-30T14:03:03.451" v="1303" actId="165"/>
          <ac:picMkLst>
            <pc:docMk/>
            <pc:sldMk cId="0" sldId="284"/>
            <ac:picMk id="6" creationId="{A2847C12-177B-FD0B-C4FB-E5136DB69286}"/>
          </ac:picMkLst>
        </pc:picChg>
      </pc:sldChg>
      <pc:sldChg chg="modSp mod">
        <pc:chgData name="Marino, Michele" userId="1ebd79fc-40dd-4ce4-a515-3032d8891950" providerId="ADAL" clId="{3412B5E1-633C-4355-88E6-50A3D16A1C62}" dt="2026-03-30T13:17:59.606" v="469" actId="20577"/>
        <pc:sldMkLst>
          <pc:docMk/>
          <pc:sldMk cId="0" sldId="305"/>
        </pc:sldMkLst>
        <pc:spChg chg="mod">
          <ac:chgData name="Marino, Michele" userId="1ebd79fc-40dd-4ce4-a515-3032d8891950" providerId="ADAL" clId="{3412B5E1-633C-4355-88E6-50A3D16A1C62}" dt="2026-03-30T13:17:59.606" v="469" actId="20577"/>
          <ac:spMkLst>
            <pc:docMk/>
            <pc:sldMk cId="0" sldId="305"/>
            <ac:spMk id="7" creationId="{68E11F84-087C-17D3-1433-5698C1D8AFCF}"/>
          </ac:spMkLst>
        </pc:spChg>
        <pc:graphicFrameChg chg="modGraphic">
          <ac:chgData name="Marino, Michele" userId="1ebd79fc-40dd-4ce4-a515-3032d8891950" providerId="ADAL" clId="{3412B5E1-633C-4355-88E6-50A3D16A1C62}" dt="2026-03-30T13:17:05.531" v="422" actId="20577"/>
          <ac:graphicFrameMkLst>
            <pc:docMk/>
            <pc:sldMk cId="0" sldId="305"/>
            <ac:graphicFrameMk id="4" creationId="{7FA5BD9B-974F-9849-98F0-13B3302259E3}"/>
          </ac:graphicFrameMkLst>
        </pc:graphicFrameChg>
      </pc:sldChg>
      <pc:sldChg chg="modSp mod">
        <pc:chgData name="Marino, Michele" userId="1ebd79fc-40dd-4ce4-a515-3032d8891950" providerId="ADAL" clId="{3412B5E1-633C-4355-88E6-50A3D16A1C62}" dt="2026-03-30T13:30:18.003" v="731" actId="20577"/>
        <pc:sldMkLst>
          <pc:docMk/>
          <pc:sldMk cId="0" sldId="306"/>
        </pc:sldMkLst>
        <pc:spChg chg="mod">
          <ac:chgData name="Marino, Michele" userId="1ebd79fc-40dd-4ce4-a515-3032d8891950" providerId="ADAL" clId="{3412B5E1-633C-4355-88E6-50A3D16A1C62}" dt="2026-03-30T07:59:03.309" v="0" actId="108"/>
          <ac:spMkLst>
            <pc:docMk/>
            <pc:sldMk cId="0" sldId="306"/>
            <ac:spMk id="25" creationId="{DE30AB11-7976-828E-0A4A-4B24397B4F0C}"/>
          </ac:spMkLst>
        </pc:spChg>
        <pc:spChg chg="mod">
          <ac:chgData name="Marino, Michele" userId="1ebd79fc-40dd-4ce4-a515-3032d8891950" providerId="ADAL" clId="{3412B5E1-633C-4355-88E6-50A3D16A1C62}" dt="2026-03-30T07:59:25.081" v="3" actId="207"/>
          <ac:spMkLst>
            <pc:docMk/>
            <pc:sldMk cId="0" sldId="306"/>
            <ac:spMk id="26" creationId="{B78A7D97-757A-5356-68AE-9CB2E908CB5A}"/>
          </ac:spMkLst>
        </pc:spChg>
        <pc:spChg chg="mod">
          <ac:chgData name="Marino, Michele" userId="1ebd79fc-40dd-4ce4-a515-3032d8891950" providerId="ADAL" clId="{3412B5E1-633C-4355-88E6-50A3D16A1C62}" dt="2026-03-30T07:59:32.318" v="4" actId="207"/>
          <ac:spMkLst>
            <pc:docMk/>
            <pc:sldMk cId="0" sldId="306"/>
            <ac:spMk id="27" creationId="{AF346804-5BF9-6B30-8B2C-5671FBE2ADCD}"/>
          </ac:spMkLst>
        </pc:spChg>
        <pc:spChg chg="mod">
          <ac:chgData name="Marino, Michele" userId="1ebd79fc-40dd-4ce4-a515-3032d8891950" providerId="ADAL" clId="{3412B5E1-633C-4355-88E6-50A3D16A1C62}" dt="2026-03-30T13:21:37.799" v="484" actId="20577"/>
          <ac:spMkLst>
            <pc:docMk/>
            <pc:sldMk cId="0" sldId="306"/>
            <ac:spMk id="34" creationId="{7A2AFD4E-1011-44D6-59E1-8D0C90F4A558}"/>
          </ac:spMkLst>
        </pc:spChg>
        <pc:spChg chg="mod">
          <ac:chgData name="Marino, Michele" userId="1ebd79fc-40dd-4ce4-a515-3032d8891950" providerId="ADAL" clId="{3412B5E1-633C-4355-88E6-50A3D16A1C62}" dt="2026-03-30T13:30:18.003" v="731" actId="20577"/>
          <ac:spMkLst>
            <pc:docMk/>
            <pc:sldMk cId="0" sldId="306"/>
            <ac:spMk id="36" creationId="{00295461-1F22-EF0D-8F58-A635DCE2B8A8}"/>
          </ac:spMkLst>
        </pc:spChg>
        <pc:spChg chg="mod">
          <ac:chgData name="Marino, Michele" userId="1ebd79fc-40dd-4ce4-a515-3032d8891950" providerId="ADAL" clId="{3412B5E1-633C-4355-88E6-50A3D16A1C62}" dt="2026-03-30T13:29:04.593" v="511" actId="20577"/>
          <ac:spMkLst>
            <pc:docMk/>
            <pc:sldMk cId="0" sldId="306"/>
            <ac:spMk id="37" creationId="{6335BD7C-0363-E587-39AD-7AFE5F1E798D}"/>
          </ac:spMkLst>
        </pc:spChg>
        <pc:spChg chg="mod">
          <ac:chgData name="Marino, Michele" userId="1ebd79fc-40dd-4ce4-a515-3032d8891950" providerId="ADAL" clId="{3412B5E1-633C-4355-88E6-50A3D16A1C62}" dt="2026-03-30T13:28:29.048" v="489" actId="6549"/>
          <ac:spMkLst>
            <pc:docMk/>
            <pc:sldMk cId="0" sldId="306"/>
            <ac:spMk id="38" creationId="{889B1189-FFFF-8D28-89FE-8792B2CBE5C3}"/>
          </ac:spMkLst>
        </pc:spChg>
      </pc:sldChg>
      <pc:sldChg chg="addSp delSp modSp mod">
        <pc:chgData name="Marino, Michele" userId="1ebd79fc-40dd-4ce4-a515-3032d8891950" providerId="ADAL" clId="{3412B5E1-633C-4355-88E6-50A3D16A1C62}" dt="2026-03-30T13:49:18.626" v="1294" actId="20577"/>
        <pc:sldMkLst>
          <pc:docMk/>
          <pc:sldMk cId="0" sldId="311"/>
        </pc:sldMkLst>
        <pc:spChg chg="mod">
          <ac:chgData name="Marino, Michele" userId="1ebd79fc-40dd-4ce4-a515-3032d8891950" providerId="ADAL" clId="{3412B5E1-633C-4355-88E6-50A3D16A1C62}" dt="2026-03-30T08:02:10.079" v="94" actId="207"/>
          <ac:spMkLst>
            <pc:docMk/>
            <pc:sldMk cId="0" sldId="311"/>
            <ac:spMk id="3" creationId="{0D526AC2-639D-73FA-9E16-52CF80A0F8E1}"/>
          </ac:spMkLst>
        </pc:spChg>
        <pc:spChg chg="mod">
          <ac:chgData name="Marino, Michele" userId="1ebd79fc-40dd-4ce4-a515-3032d8891950" providerId="ADAL" clId="{3412B5E1-633C-4355-88E6-50A3D16A1C62}" dt="2026-03-30T08:02:15.911" v="95" actId="108"/>
          <ac:spMkLst>
            <pc:docMk/>
            <pc:sldMk cId="0" sldId="311"/>
            <ac:spMk id="4" creationId="{FFD8B7E8-3F23-4AF4-5BC9-2AB6F379573E}"/>
          </ac:spMkLst>
        </pc:spChg>
        <pc:spChg chg="mod">
          <ac:chgData name="Marino, Michele" userId="1ebd79fc-40dd-4ce4-a515-3032d8891950" providerId="ADAL" clId="{3412B5E1-633C-4355-88E6-50A3D16A1C62}" dt="2026-03-30T08:02:18.089" v="97" actId="108"/>
          <ac:spMkLst>
            <pc:docMk/>
            <pc:sldMk cId="0" sldId="311"/>
            <ac:spMk id="5" creationId="{DDF9D5C5-7CD2-71CF-6210-F98DB0697632}"/>
          </ac:spMkLst>
        </pc:spChg>
        <pc:spChg chg="add mod">
          <ac:chgData name="Marino, Michele" userId="1ebd79fc-40dd-4ce4-a515-3032d8891950" providerId="ADAL" clId="{3412B5E1-633C-4355-88E6-50A3D16A1C62}" dt="2026-03-30T08:00:53.046" v="83" actId="164"/>
          <ac:spMkLst>
            <pc:docMk/>
            <pc:sldMk cId="0" sldId="311"/>
            <ac:spMk id="6" creationId="{3E62E8E6-F8A0-89BD-0613-38E07C0322F0}"/>
          </ac:spMkLst>
        </pc:spChg>
        <pc:spChg chg="mod">
          <ac:chgData name="Marino, Michele" userId="1ebd79fc-40dd-4ce4-a515-3032d8891950" providerId="ADAL" clId="{3412B5E1-633C-4355-88E6-50A3D16A1C62}" dt="2026-03-30T08:02:17.106" v="96" actId="108"/>
          <ac:spMkLst>
            <pc:docMk/>
            <pc:sldMk cId="0" sldId="311"/>
            <ac:spMk id="8" creationId="{D1C0B2E3-0D51-7A56-E53A-1567988DB98B}"/>
          </ac:spMkLst>
        </pc:spChg>
        <pc:spChg chg="add mod">
          <ac:chgData name="Marino, Michele" userId="1ebd79fc-40dd-4ce4-a515-3032d8891950" providerId="ADAL" clId="{3412B5E1-633C-4355-88E6-50A3D16A1C62}" dt="2026-03-30T08:00:30.318" v="13" actId="164"/>
          <ac:spMkLst>
            <pc:docMk/>
            <pc:sldMk cId="0" sldId="311"/>
            <ac:spMk id="13" creationId="{75064B71-5051-02B6-A144-2F4471A83199}"/>
          </ac:spMkLst>
        </pc:spChg>
        <pc:spChg chg="add mod">
          <ac:chgData name="Marino, Michele" userId="1ebd79fc-40dd-4ce4-a515-3032d8891950" providerId="ADAL" clId="{3412B5E1-633C-4355-88E6-50A3D16A1C62}" dt="2026-03-30T13:49:18.626" v="1294" actId="20577"/>
          <ac:spMkLst>
            <pc:docMk/>
            <pc:sldMk cId="0" sldId="311"/>
            <ac:spMk id="15" creationId="{DA9BD626-E600-F9F4-2803-A4B966D34BBF}"/>
          </ac:spMkLst>
        </pc:spChg>
        <pc:spChg chg="del">
          <ac:chgData name="Marino, Michele" userId="1ebd79fc-40dd-4ce4-a515-3032d8891950" providerId="ADAL" clId="{3412B5E1-633C-4355-88E6-50A3D16A1C62}" dt="2026-03-30T07:59:53.459" v="6" actId="478"/>
          <ac:spMkLst>
            <pc:docMk/>
            <pc:sldMk cId="0" sldId="311"/>
            <ac:spMk id="15" creationId="{E643DAF0-47A1-50B2-9945-63912DED95E0}"/>
          </ac:spMkLst>
        </pc:spChg>
        <pc:spChg chg="add mod">
          <ac:chgData name="Marino, Michele" userId="1ebd79fc-40dd-4ce4-a515-3032d8891950" providerId="ADAL" clId="{3412B5E1-633C-4355-88E6-50A3D16A1C62}" dt="2026-03-30T08:00:45.877" v="81" actId="164"/>
          <ac:spMkLst>
            <pc:docMk/>
            <pc:sldMk cId="0" sldId="311"/>
            <ac:spMk id="18" creationId="{BBA3DF3B-1627-5FC4-849C-C858715FEB55}"/>
          </ac:spMkLst>
        </pc:spChg>
        <pc:spChg chg="del">
          <ac:chgData name="Marino, Michele" userId="1ebd79fc-40dd-4ce4-a515-3032d8891950" providerId="ADAL" clId="{3412B5E1-633C-4355-88E6-50A3D16A1C62}" dt="2026-03-30T08:00:10.138" v="10" actId="478"/>
          <ac:spMkLst>
            <pc:docMk/>
            <pc:sldMk cId="0" sldId="311"/>
            <ac:spMk id="20" creationId="{FDC5AAB7-A512-ACAD-292D-02BE7208175D}"/>
          </ac:spMkLst>
        </pc:spChg>
        <pc:spChg chg="del">
          <ac:chgData name="Marino, Michele" userId="1ebd79fc-40dd-4ce4-a515-3032d8891950" providerId="ADAL" clId="{3412B5E1-633C-4355-88E6-50A3D16A1C62}" dt="2026-03-30T08:00:13.344" v="11" actId="478"/>
          <ac:spMkLst>
            <pc:docMk/>
            <pc:sldMk cId="0" sldId="311"/>
            <ac:spMk id="24" creationId="{F6F697F8-DE53-F152-387A-DE027EB1482D}"/>
          </ac:spMkLst>
        </pc:spChg>
        <pc:spChg chg="add mod">
          <ac:chgData name="Marino, Michele" userId="1ebd79fc-40dd-4ce4-a515-3032d8891950" providerId="ADAL" clId="{3412B5E1-633C-4355-88E6-50A3D16A1C62}" dt="2026-03-30T08:01:05.465" v="85" actId="164"/>
          <ac:spMkLst>
            <pc:docMk/>
            <pc:sldMk cId="0" sldId="311"/>
            <ac:spMk id="26" creationId="{BBB3E871-BB44-D22A-074E-36949CDDF514}"/>
          </ac:spMkLst>
        </pc:spChg>
        <pc:spChg chg="del">
          <ac:chgData name="Marino, Michele" userId="1ebd79fc-40dd-4ce4-a515-3032d8891950" providerId="ADAL" clId="{3412B5E1-633C-4355-88E6-50A3D16A1C62}" dt="2026-03-30T08:00:13.344" v="11" actId="478"/>
          <ac:spMkLst>
            <pc:docMk/>
            <pc:sldMk cId="0" sldId="311"/>
            <ac:spMk id="28" creationId="{FBC1DDF4-49EF-81A1-7C26-F9CBAE7E6DEA}"/>
          </ac:spMkLst>
        </pc:spChg>
        <pc:grpChg chg="add mod">
          <ac:chgData name="Marino, Michele" userId="1ebd79fc-40dd-4ce4-a515-3032d8891950" providerId="ADAL" clId="{3412B5E1-633C-4355-88E6-50A3D16A1C62}" dt="2026-03-30T08:01:47.062" v="92" actId="12789"/>
          <ac:grpSpMkLst>
            <pc:docMk/>
            <pc:sldMk cId="0" sldId="311"/>
            <ac:grpSpMk id="16" creationId="{3193D365-15FC-1457-98D9-6F8D29CC68DC}"/>
          </ac:grpSpMkLst>
        </pc:grpChg>
        <pc:grpChg chg="add mod">
          <ac:chgData name="Marino, Michele" userId="1ebd79fc-40dd-4ce4-a515-3032d8891950" providerId="ADAL" clId="{3412B5E1-633C-4355-88E6-50A3D16A1C62}" dt="2026-03-30T08:01:28.935" v="88" actId="12788"/>
          <ac:grpSpMkLst>
            <pc:docMk/>
            <pc:sldMk cId="0" sldId="311"/>
            <ac:grpSpMk id="22" creationId="{E453FDBC-7CE6-409B-0080-5417CAB75F2D}"/>
          </ac:grpSpMkLst>
        </pc:grpChg>
        <pc:grpChg chg="add mod">
          <ac:chgData name="Marino, Michele" userId="1ebd79fc-40dd-4ce4-a515-3032d8891950" providerId="ADAL" clId="{3412B5E1-633C-4355-88E6-50A3D16A1C62}" dt="2026-03-30T08:01:47.062" v="92" actId="12789"/>
          <ac:grpSpMkLst>
            <pc:docMk/>
            <pc:sldMk cId="0" sldId="311"/>
            <ac:grpSpMk id="23" creationId="{6B4B9E18-AB34-FB01-3316-8F9D10073998}"/>
          </ac:grpSpMkLst>
        </pc:grpChg>
        <pc:grpChg chg="add mod">
          <ac:chgData name="Marino, Michele" userId="1ebd79fc-40dd-4ce4-a515-3032d8891950" providerId="ADAL" clId="{3412B5E1-633C-4355-88E6-50A3D16A1C62}" dt="2026-03-30T08:01:23.679" v="87" actId="553"/>
          <ac:grpSpMkLst>
            <pc:docMk/>
            <pc:sldMk cId="0" sldId="311"/>
            <ac:grpSpMk id="29" creationId="{6DCE5790-7DBB-3168-3146-7ECCC952E2D6}"/>
          </ac:grpSpMkLst>
        </pc:grpChg>
        <pc:picChg chg="add mod">
          <ac:chgData name="Marino, Michele" userId="1ebd79fc-40dd-4ce4-a515-3032d8891950" providerId="ADAL" clId="{3412B5E1-633C-4355-88E6-50A3D16A1C62}" dt="2026-03-30T08:00:53.046" v="83" actId="164"/>
          <ac:picMkLst>
            <pc:docMk/>
            <pc:sldMk cId="0" sldId="311"/>
            <ac:picMk id="7" creationId="{AFDE845C-12B7-F2E9-40B4-FBDD798E1CF5}"/>
          </ac:picMkLst>
        </pc:picChg>
        <pc:picChg chg="add mod">
          <ac:chgData name="Marino, Michele" userId="1ebd79fc-40dd-4ce4-a515-3032d8891950" providerId="ADAL" clId="{3412B5E1-633C-4355-88E6-50A3D16A1C62}" dt="2026-03-30T08:00:30.318" v="13" actId="164"/>
          <ac:picMkLst>
            <pc:docMk/>
            <pc:sldMk cId="0" sldId="311"/>
            <ac:picMk id="14" creationId="{12527594-0270-7D3E-E241-D9DDEC61D5A2}"/>
          </ac:picMkLst>
        </pc:picChg>
        <pc:picChg chg="add mod">
          <ac:chgData name="Marino, Michele" userId="1ebd79fc-40dd-4ce4-a515-3032d8891950" providerId="ADAL" clId="{3412B5E1-633C-4355-88E6-50A3D16A1C62}" dt="2026-03-30T08:00:45.877" v="81" actId="164"/>
          <ac:picMkLst>
            <pc:docMk/>
            <pc:sldMk cId="0" sldId="311"/>
            <ac:picMk id="19" creationId="{D76FA4F0-06A5-62F7-AEF2-7EF9B263930F}"/>
          </ac:picMkLst>
        </pc:picChg>
        <pc:picChg chg="add mod">
          <ac:chgData name="Marino, Michele" userId="1ebd79fc-40dd-4ce4-a515-3032d8891950" providerId="ADAL" clId="{3412B5E1-633C-4355-88E6-50A3D16A1C62}" dt="2026-03-30T08:01:05.465" v="85" actId="164"/>
          <ac:picMkLst>
            <pc:docMk/>
            <pc:sldMk cId="0" sldId="311"/>
            <ac:picMk id="27" creationId="{5455FAEE-0AD4-828B-DE64-8FFEDF3A9A47}"/>
          </ac:picMkLst>
        </pc:picChg>
        <pc:picChg chg="del mod">
          <ac:chgData name="Marino, Michele" userId="1ebd79fc-40dd-4ce4-a515-3032d8891950" providerId="ADAL" clId="{3412B5E1-633C-4355-88E6-50A3D16A1C62}" dt="2026-03-30T07:59:55.327" v="7" actId="478"/>
          <ac:picMkLst>
            <pc:docMk/>
            <pc:sldMk cId="0" sldId="311"/>
            <ac:picMk id="33" creationId="{00000000-0000-0000-0000-000000000000}"/>
          </ac:picMkLst>
        </pc:picChg>
        <pc:picChg chg="del">
          <ac:chgData name="Marino, Michele" userId="1ebd79fc-40dd-4ce4-a515-3032d8891950" providerId="ADAL" clId="{3412B5E1-633C-4355-88E6-50A3D16A1C62}" dt="2026-03-30T08:00:10.138" v="10" actId="478"/>
          <ac:picMkLst>
            <pc:docMk/>
            <pc:sldMk cId="0" sldId="311"/>
            <ac:picMk id="34" creationId="{00000000-0000-0000-0000-000000000000}"/>
          </ac:picMkLst>
        </pc:picChg>
        <pc:picChg chg="del">
          <ac:chgData name="Marino, Michele" userId="1ebd79fc-40dd-4ce4-a515-3032d8891950" providerId="ADAL" clId="{3412B5E1-633C-4355-88E6-50A3D16A1C62}" dt="2026-03-30T08:00:13.344" v="11" actId="478"/>
          <ac:picMkLst>
            <pc:docMk/>
            <pc:sldMk cId="0" sldId="311"/>
            <ac:picMk id="35" creationId="{00000000-0000-0000-0000-000000000000}"/>
          </ac:picMkLst>
        </pc:picChg>
        <pc:picChg chg="del">
          <ac:chgData name="Marino, Michele" userId="1ebd79fc-40dd-4ce4-a515-3032d8891950" providerId="ADAL" clId="{3412B5E1-633C-4355-88E6-50A3D16A1C62}" dt="2026-03-30T08:00:13.344" v="11" actId="478"/>
          <ac:picMkLst>
            <pc:docMk/>
            <pc:sldMk cId="0" sldId="311"/>
            <ac:picMk id="36" creationId="{00000000-0000-0000-0000-000000000000}"/>
          </ac:picMkLst>
        </pc:picChg>
        <pc:cxnChg chg="mod">
          <ac:chgData name="Marino, Michele" userId="1ebd79fc-40dd-4ce4-a515-3032d8891950" providerId="ADAL" clId="{3412B5E1-633C-4355-88E6-50A3D16A1C62}" dt="2026-03-30T08:02:03.597" v="93" actId="208"/>
          <ac:cxnSpMkLst>
            <pc:docMk/>
            <pc:sldMk cId="0" sldId="311"/>
            <ac:cxnSpMk id="12" creationId="{EDE9F601-7F66-8886-D354-60CD42DFD46A}"/>
          </ac:cxnSpMkLst>
        </pc:cxnChg>
        <pc:cxnChg chg="mod">
          <ac:chgData name="Marino, Michele" userId="1ebd79fc-40dd-4ce4-a515-3032d8891950" providerId="ADAL" clId="{3412B5E1-633C-4355-88E6-50A3D16A1C62}" dt="2026-03-30T08:02:03.597" v="93" actId="208"/>
          <ac:cxnSpMkLst>
            <pc:docMk/>
            <pc:sldMk cId="0" sldId="311"/>
            <ac:cxnSpMk id="17" creationId="{88572F18-1681-CA35-7440-E0137A797289}"/>
          </ac:cxnSpMkLst>
        </pc:cxnChg>
        <pc:cxnChg chg="mod">
          <ac:chgData name="Marino, Michele" userId="1ebd79fc-40dd-4ce4-a515-3032d8891950" providerId="ADAL" clId="{3412B5E1-633C-4355-88E6-50A3D16A1C62}" dt="2026-03-30T08:02:03.597" v="93" actId="208"/>
          <ac:cxnSpMkLst>
            <pc:docMk/>
            <pc:sldMk cId="0" sldId="311"/>
            <ac:cxnSpMk id="21" creationId="{71473C10-A269-5866-244B-9D834B6AD7C4}"/>
          </ac:cxnSpMkLst>
        </pc:cxnChg>
        <pc:cxnChg chg="mod">
          <ac:chgData name="Marino, Michele" userId="1ebd79fc-40dd-4ce4-a515-3032d8891950" providerId="ADAL" clId="{3412B5E1-633C-4355-88E6-50A3D16A1C62}" dt="2026-03-30T08:02:03.597" v="93" actId="208"/>
          <ac:cxnSpMkLst>
            <pc:docMk/>
            <pc:sldMk cId="0" sldId="311"/>
            <ac:cxnSpMk id="25" creationId="{BAC8D937-EB24-F30E-A675-871C4C004785}"/>
          </ac:cxnSpMkLst>
        </pc:cxnChg>
      </pc:sldChg>
      <pc:sldChg chg="modSp mod">
        <pc:chgData name="Marino, Michele" userId="1ebd79fc-40dd-4ce4-a515-3032d8891950" providerId="ADAL" clId="{3412B5E1-633C-4355-88E6-50A3D16A1C62}" dt="2026-03-30T14:01:23.766" v="1298" actId="403"/>
        <pc:sldMkLst>
          <pc:docMk/>
          <pc:sldMk cId="0" sldId="337"/>
        </pc:sldMkLst>
        <pc:spChg chg="mod">
          <ac:chgData name="Marino, Michele" userId="1ebd79fc-40dd-4ce4-a515-3032d8891950" providerId="ADAL" clId="{3412B5E1-633C-4355-88E6-50A3D16A1C62}" dt="2026-03-30T08:02:30.646" v="98" actId="108"/>
          <ac:spMkLst>
            <pc:docMk/>
            <pc:sldMk cId="0" sldId="337"/>
            <ac:spMk id="2" creationId="{2691D4DB-7019-66C4-35F7-2A7A4EF0CA39}"/>
          </ac:spMkLst>
        </pc:spChg>
        <pc:spChg chg="mod">
          <ac:chgData name="Marino, Michele" userId="1ebd79fc-40dd-4ce4-a515-3032d8891950" providerId="ADAL" clId="{3412B5E1-633C-4355-88E6-50A3D16A1C62}" dt="2026-03-30T08:02:31.129" v="99" actId="108"/>
          <ac:spMkLst>
            <pc:docMk/>
            <pc:sldMk cId="0" sldId="337"/>
            <ac:spMk id="3" creationId="{D297A73F-E0D6-6123-584D-850F16680FD3}"/>
          </ac:spMkLst>
        </pc:spChg>
        <pc:spChg chg="mod">
          <ac:chgData name="Marino, Michele" userId="1ebd79fc-40dd-4ce4-a515-3032d8891950" providerId="ADAL" clId="{3412B5E1-633C-4355-88E6-50A3D16A1C62}" dt="2026-03-30T13:35:00.730" v="1053" actId="12789"/>
          <ac:spMkLst>
            <pc:docMk/>
            <pc:sldMk cId="0" sldId="337"/>
            <ac:spMk id="8" creationId="{3AEF839E-FA3E-E90F-04D6-3CCF5B599346}"/>
          </ac:spMkLst>
        </pc:spChg>
        <pc:spChg chg="mod">
          <ac:chgData name="Marino, Michele" userId="1ebd79fc-40dd-4ce4-a515-3032d8891950" providerId="ADAL" clId="{3412B5E1-633C-4355-88E6-50A3D16A1C62}" dt="2026-03-30T14:01:18.745" v="1296" actId="403"/>
          <ac:spMkLst>
            <pc:docMk/>
            <pc:sldMk cId="0" sldId="337"/>
            <ac:spMk id="9" creationId="{BD14B52A-D9F2-7052-A873-8CA50A529006}"/>
          </ac:spMkLst>
        </pc:spChg>
        <pc:spChg chg="mod">
          <ac:chgData name="Marino, Michele" userId="1ebd79fc-40dd-4ce4-a515-3032d8891950" providerId="ADAL" clId="{3412B5E1-633C-4355-88E6-50A3D16A1C62}" dt="2026-03-30T08:02:31.580" v="100" actId="108"/>
          <ac:spMkLst>
            <pc:docMk/>
            <pc:sldMk cId="0" sldId="337"/>
            <ac:spMk id="17" creationId="{23731C6F-C6FC-422D-3F8D-0932BC79120E}"/>
          </ac:spMkLst>
        </pc:spChg>
        <pc:spChg chg="mod">
          <ac:chgData name="Marino, Michele" userId="1ebd79fc-40dd-4ce4-a515-3032d8891950" providerId="ADAL" clId="{3412B5E1-633C-4355-88E6-50A3D16A1C62}" dt="2026-03-30T14:01:21.382" v="1297" actId="403"/>
          <ac:spMkLst>
            <pc:docMk/>
            <pc:sldMk cId="0" sldId="337"/>
            <ac:spMk id="18" creationId="{2CAD8D85-5B76-EF5A-B6ED-F29C9E5C6E3F}"/>
          </ac:spMkLst>
        </pc:spChg>
        <pc:spChg chg="mod">
          <ac:chgData name="Marino, Michele" userId="1ebd79fc-40dd-4ce4-a515-3032d8891950" providerId="ADAL" clId="{3412B5E1-633C-4355-88E6-50A3D16A1C62}" dt="2026-03-30T14:01:23.766" v="1298" actId="403"/>
          <ac:spMkLst>
            <pc:docMk/>
            <pc:sldMk cId="0" sldId="337"/>
            <ac:spMk id="19" creationId="{EDF264CC-D41B-AE36-9F9B-18E555AF2FEB}"/>
          </ac:spMkLst>
        </pc:spChg>
        <pc:spChg chg="mod">
          <ac:chgData name="Marino, Michele" userId="1ebd79fc-40dd-4ce4-a515-3032d8891950" providerId="ADAL" clId="{3412B5E1-633C-4355-88E6-50A3D16A1C62}" dt="2026-03-30T13:35:00.730" v="1053" actId="12789"/>
          <ac:spMkLst>
            <pc:docMk/>
            <pc:sldMk cId="0" sldId="337"/>
            <ac:spMk id="20" creationId="{D4B8DE05-9D4D-84AE-8C3B-59A4C4F92C3D}"/>
          </ac:spMkLst>
        </pc:spChg>
        <pc:spChg chg="mod">
          <ac:chgData name="Marino, Michele" userId="1ebd79fc-40dd-4ce4-a515-3032d8891950" providerId="ADAL" clId="{3412B5E1-633C-4355-88E6-50A3D16A1C62}" dt="2026-03-30T13:35:00.730" v="1053" actId="12789"/>
          <ac:spMkLst>
            <pc:docMk/>
            <pc:sldMk cId="0" sldId="337"/>
            <ac:spMk id="21" creationId="{52ADFDBB-3C9D-A0A2-773E-E8A48CA85993}"/>
          </ac:spMkLst>
        </pc:spChg>
        <pc:spChg chg="mod">
          <ac:chgData name="Marino, Michele" userId="1ebd79fc-40dd-4ce4-a515-3032d8891950" providerId="ADAL" clId="{3412B5E1-633C-4355-88E6-50A3D16A1C62}" dt="2026-03-30T08:02:38.652" v="101" actId="207"/>
          <ac:spMkLst>
            <pc:docMk/>
            <pc:sldMk cId="0" sldId="337"/>
            <ac:spMk id="22" creationId="{3F403F03-8B2A-3C47-4893-2E081C91B8BE}"/>
          </ac:spMkLst>
        </pc:spChg>
        <pc:picChg chg="mod">
          <ac:chgData name="Marino, Michele" userId="1ebd79fc-40dd-4ce4-a515-3032d8891950" providerId="ADAL" clId="{3412B5E1-633C-4355-88E6-50A3D16A1C62}" dt="2026-03-30T08:03:01.960" v="102"/>
          <ac:picMkLst>
            <pc:docMk/>
            <pc:sldMk cId="0" sldId="337"/>
            <ac:picMk id="23" creationId="{00000000-0000-0000-0000-000000000000}"/>
          </ac:picMkLst>
        </pc:picChg>
      </pc:sldChg>
      <pc:sldChg chg="addSp delSp modSp mod">
        <pc:chgData name="Marino, Michele" userId="1ebd79fc-40dd-4ce4-a515-3032d8891950" providerId="ADAL" clId="{3412B5E1-633C-4355-88E6-50A3D16A1C62}" dt="2026-03-30T13:49:23.571" v="1295"/>
        <pc:sldMkLst>
          <pc:docMk/>
          <pc:sldMk cId="0" sldId="339"/>
        </pc:sldMkLst>
        <pc:spChg chg="add del mod">
          <ac:chgData name="Marino, Michele" userId="1ebd79fc-40dd-4ce4-a515-3032d8891950" providerId="ADAL" clId="{3412B5E1-633C-4355-88E6-50A3D16A1C62}" dt="2026-03-30T08:03:39.709" v="107" actId="478"/>
          <ac:spMkLst>
            <pc:docMk/>
            <pc:sldMk cId="0" sldId="339"/>
            <ac:spMk id="2" creationId="{2D98C98F-798F-D3BC-231E-625E423F0DC1}"/>
          </ac:spMkLst>
        </pc:spChg>
        <pc:spChg chg="add mod">
          <ac:chgData name="Marino, Michele" userId="1ebd79fc-40dd-4ce4-a515-3032d8891950" providerId="ADAL" clId="{3412B5E1-633C-4355-88E6-50A3D16A1C62}" dt="2026-03-30T13:49:23.571" v="1295"/>
          <ac:spMkLst>
            <pc:docMk/>
            <pc:sldMk cId="0" sldId="339"/>
            <ac:spMk id="2" creationId="{B063E669-9A47-D668-A9C1-6ECF70C0E95F}"/>
          </ac:spMkLst>
        </pc:spChg>
        <pc:spChg chg="add del mod">
          <ac:chgData name="Marino, Michele" userId="1ebd79fc-40dd-4ce4-a515-3032d8891950" providerId="ADAL" clId="{3412B5E1-633C-4355-88E6-50A3D16A1C62}" dt="2026-03-30T08:03:44.897" v="109" actId="478"/>
          <ac:spMkLst>
            <pc:docMk/>
            <pc:sldMk cId="0" sldId="339"/>
            <ac:spMk id="3" creationId="{027FD229-6868-613D-9C67-ACB809EE68F3}"/>
          </ac:spMkLst>
        </pc:spChg>
        <pc:spChg chg="add del mod">
          <ac:chgData name="Marino, Michele" userId="1ebd79fc-40dd-4ce4-a515-3032d8891950" providerId="ADAL" clId="{3412B5E1-633C-4355-88E6-50A3D16A1C62}" dt="2026-03-30T08:03:50.377" v="111" actId="478"/>
          <ac:spMkLst>
            <pc:docMk/>
            <pc:sldMk cId="0" sldId="339"/>
            <ac:spMk id="4" creationId="{1C7EF26A-0D13-3828-1E47-324FC26DBB22}"/>
          </ac:spMkLst>
        </pc:spChg>
        <pc:spChg chg="mod">
          <ac:chgData name="Marino, Michele" userId="1ebd79fc-40dd-4ce4-a515-3032d8891950" providerId="ADAL" clId="{3412B5E1-633C-4355-88E6-50A3D16A1C62}" dt="2026-03-30T08:04:22.586" v="117" actId="208"/>
          <ac:spMkLst>
            <pc:docMk/>
            <pc:sldMk cId="0" sldId="339"/>
            <ac:spMk id="28" creationId="{B2B22671-45F8-6987-8D5C-9A586769B8FA}"/>
          </ac:spMkLst>
        </pc:spChg>
        <pc:spChg chg="mod">
          <ac:chgData name="Marino, Michele" userId="1ebd79fc-40dd-4ce4-a515-3032d8891950" providerId="ADAL" clId="{3412B5E1-633C-4355-88E6-50A3D16A1C62}" dt="2026-03-30T08:04:22.586" v="117" actId="208"/>
          <ac:spMkLst>
            <pc:docMk/>
            <pc:sldMk cId="0" sldId="339"/>
            <ac:spMk id="30" creationId="{7A36BF36-A6AB-A713-A992-071E6E568938}"/>
          </ac:spMkLst>
        </pc:spChg>
        <pc:spChg chg="mod">
          <ac:chgData name="Marino, Michele" userId="1ebd79fc-40dd-4ce4-a515-3032d8891950" providerId="ADAL" clId="{3412B5E1-633C-4355-88E6-50A3D16A1C62}" dt="2026-03-30T08:04:22.586" v="117" actId="208"/>
          <ac:spMkLst>
            <pc:docMk/>
            <pc:sldMk cId="0" sldId="339"/>
            <ac:spMk id="32" creationId="{A2D6AD68-73C3-4A14-6800-E4248190EEAA}"/>
          </ac:spMkLst>
        </pc:spChg>
        <pc:spChg chg="mod">
          <ac:chgData name="Marino, Michele" userId="1ebd79fc-40dd-4ce4-a515-3032d8891950" providerId="ADAL" clId="{3412B5E1-633C-4355-88E6-50A3D16A1C62}" dt="2026-03-30T08:03:36.344" v="106" actId="108"/>
          <ac:spMkLst>
            <pc:docMk/>
            <pc:sldMk cId="0" sldId="339"/>
            <ac:spMk id="43" creationId="{DFFBCC6A-0E65-09F1-3395-A9B60778A359}"/>
          </ac:spMkLst>
        </pc:spChg>
        <pc:spChg chg="mod">
          <ac:chgData name="Marino, Michele" userId="1ebd79fc-40dd-4ce4-a515-3032d8891950" providerId="ADAL" clId="{3412B5E1-633C-4355-88E6-50A3D16A1C62}" dt="2026-03-30T08:03:31.826" v="105" actId="108"/>
          <ac:spMkLst>
            <pc:docMk/>
            <pc:sldMk cId="0" sldId="339"/>
            <ac:spMk id="44" creationId="{F23C1286-5BCE-5906-4A9E-8C4A4F1FD7F2}"/>
          </ac:spMkLst>
        </pc:spChg>
        <pc:spChg chg="mod">
          <ac:chgData name="Marino, Michele" userId="1ebd79fc-40dd-4ce4-a515-3032d8891950" providerId="ADAL" clId="{3412B5E1-633C-4355-88E6-50A3D16A1C62}" dt="2026-03-30T08:03:43.091" v="108" actId="108"/>
          <ac:spMkLst>
            <pc:docMk/>
            <pc:sldMk cId="0" sldId="339"/>
            <ac:spMk id="45" creationId="{5A98D61B-F0D7-DAEC-101F-A278023097F1}"/>
          </ac:spMkLst>
        </pc:spChg>
        <pc:spChg chg="mod">
          <ac:chgData name="Marino, Michele" userId="1ebd79fc-40dd-4ce4-a515-3032d8891950" providerId="ADAL" clId="{3412B5E1-633C-4355-88E6-50A3D16A1C62}" dt="2026-03-30T08:03:48.347" v="110" actId="108"/>
          <ac:spMkLst>
            <pc:docMk/>
            <pc:sldMk cId="0" sldId="339"/>
            <ac:spMk id="49" creationId="{FB677278-F335-AA88-F811-9A8164F5D47A}"/>
          </ac:spMkLst>
        </pc:spChg>
        <pc:spChg chg="mod">
          <ac:chgData name="Marino, Michele" userId="1ebd79fc-40dd-4ce4-a515-3032d8891950" providerId="ADAL" clId="{3412B5E1-633C-4355-88E6-50A3D16A1C62}" dt="2026-03-30T08:03:54.967" v="112" actId="108"/>
          <ac:spMkLst>
            <pc:docMk/>
            <pc:sldMk cId="0" sldId="339"/>
            <ac:spMk id="52" creationId="{662FE757-4288-7B34-3944-B82CCB4FEA76}"/>
          </ac:spMkLst>
        </pc:spChg>
        <pc:spChg chg="mod">
          <ac:chgData name="Marino, Michele" userId="1ebd79fc-40dd-4ce4-a515-3032d8891950" providerId="ADAL" clId="{3412B5E1-633C-4355-88E6-50A3D16A1C62}" dt="2026-03-30T08:03:55.557" v="113" actId="108"/>
          <ac:spMkLst>
            <pc:docMk/>
            <pc:sldMk cId="0" sldId="339"/>
            <ac:spMk id="54" creationId="{79EF9F6F-F46C-7805-ED5C-E20E3E18987A}"/>
          </ac:spMkLst>
        </pc:spChg>
        <pc:spChg chg="mod">
          <ac:chgData name="Marino, Michele" userId="1ebd79fc-40dd-4ce4-a515-3032d8891950" providerId="ADAL" clId="{3412B5E1-633C-4355-88E6-50A3D16A1C62}" dt="2026-03-30T08:03:56.242" v="114" actId="108"/>
          <ac:spMkLst>
            <pc:docMk/>
            <pc:sldMk cId="0" sldId="339"/>
            <ac:spMk id="56" creationId="{4737CC88-0C8D-B13E-1354-DC9156D7E846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3/31/2026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50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97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93615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.v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426826" y="6519673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527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7" r:id="rId1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lang="en-US" sz="2400" b="0" kern="1200" noProof="0" dirty="0">
          <a:solidFill>
            <a:schemeClr val="bg1">
              <a:lumMod val="50000"/>
            </a:schemeClr>
          </a:solidFill>
          <a:latin typeface="Aptos" panose="020B0004020202020204" pitchFamily="34" charset="0"/>
          <a:ea typeface="+mn-ea"/>
          <a:cs typeface="Open Sans" panose="020B0606030504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85" orient="horz" pos="4008" userDrawn="1">
          <p15:clr>
            <a:srgbClr val="F26B43"/>
          </p15:clr>
        </p15:guide>
        <p15:guide id="87" orient="horz" pos="4104" userDrawn="1">
          <p15:clr>
            <a:srgbClr val="F26B43"/>
          </p15:clr>
        </p15:guide>
        <p15:guide id="88" orient="horz" pos="1080" userDrawn="1">
          <p15:clr>
            <a:srgbClr val="F26B43"/>
          </p15:clr>
        </p15:guide>
        <p15:guide id="90" pos="3840" userDrawn="1">
          <p15:clr>
            <a:srgbClr val="F26B43"/>
          </p15:clr>
        </p15:guide>
        <p15:guide id="93" pos="3744" userDrawn="1">
          <p15:clr>
            <a:srgbClr val="F26B43"/>
          </p15:clr>
        </p15:guide>
        <p15:guide id="94" pos="7392" userDrawn="1">
          <p15:clr>
            <a:srgbClr val="F26B43"/>
          </p15:clr>
        </p15:guide>
        <p15:guide id="95" pos="3936" userDrawn="1">
          <p15:clr>
            <a:srgbClr val="F26B43"/>
          </p15:clr>
        </p15:guide>
        <p15:guide id="96" orient="horz" pos="216" userDrawn="1">
          <p15:clr>
            <a:srgbClr val="F26B43"/>
          </p15:clr>
        </p15:guide>
        <p15:guide id="97" orient="horz" pos="432" userDrawn="1">
          <p15:clr>
            <a:srgbClr val="F26B43"/>
          </p15:clr>
        </p15:guide>
        <p15:guide id="98" pos="2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 descr="A clear, concise title (under 10 words) that captures the main topic of the deck.">
            <a:extLst>
              <a:ext uri="{FF2B5EF4-FFF2-40B4-BE49-F238E27FC236}">
                <a16:creationId xmlns:a16="http://schemas.microsoft.com/office/drawing/2014/main" id="{0F9BEB70-BE2D-13A3-F755-D09E1E00CA31}"/>
              </a:ext>
            </a:extLst>
          </p:cNvPr>
          <p:cNvSpPr txBox="1">
            <a:spLocks/>
          </p:cNvSpPr>
          <p:nvPr/>
        </p:nvSpPr>
        <p:spPr>
          <a:xfrm>
            <a:off x="876105" y="2774890"/>
            <a:ext cx="3058888" cy="130822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4000" dirty="0">
                <a:solidFill>
                  <a:schemeClr val="tx1"/>
                </a:solidFill>
                <a:latin typeface="Aptos"/>
              </a:rPr>
              <a:t>Hotel Booking Analysis: From Data to Decisions</a:t>
            </a: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47C12-177B-FD0B-C4FB-E5136DB69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046" y="1247939"/>
            <a:ext cx="4514850" cy="4362122"/>
          </a:xfrm>
          <a:prstGeom prst="rect">
            <a:avLst/>
          </a:prstGeom>
          <a:ln>
            <a:solidFill>
              <a:srgbClr val="001534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5604D70-D521-38D9-CC4B-A893EC0A0F16}"/>
              </a:ext>
            </a:extLst>
          </p:cNvPr>
          <p:cNvSpPr txBox="1">
            <a:spLocks/>
          </p:cNvSpPr>
          <p:nvPr/>
        </p:nvSpPr>
        <p:spPr>
          <a:xfrm>
            <a:off x="8240486" y="2037141"/>
            <a:ext cx="3702132" cy="4273761"/>
          </a:xfrm>
          <a:prstGeom prst="rect">
            <a:avLst/>
          </a:prstGeom>
          <a:solidFill>
            <a:srgbClr val="DCE8F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Autofit/>
          </a:bodyPr>
          <a:lstStyle>
            <a:defPPr>
              <a:defRPr lang="en-US"/>
            </a:defPPr>
            <a:lvl1pPr algn="ctr">
              <a:lnSpc>
                <a:spcPct val="106000"/>
              </a:lnSpc>
              <a:buFont typeface="Wingdings 2" pitchFamily="18" charset="2"/>
              <a:buNone/>
              <a:defRPr sz="1200">
                <a:solidFill>
                  <a:schemeClr val="accent3">
                    <a:lumMod val="5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6858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None/>
              <a:defRPr sz="2000" b="0">
                <a:solidFill>
                  <a:schemeClr val="tx1">
                    <a:tint val="75000"/>
                  </a:schemeClr>
                </a:solidFill>
                <a:latin typeface="+mj-lt"/>
                <a:cs typeface="Calibri Light" panose="020F0302020204030204" pitchFamily="34" charset="0"/>
              </a:defRPr>
            </a:lvl2pPr>
            <a:lvl3pPr indent="0" defTabSz="6858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None/>
              <a:defRPr b="0">
                <a:solidFill>
                  <a:schemeClr val="tx1">
                    <a:tint val="75000"/>
                  </a:schemeClr>
                </a:solidFill>
                <a:cs typeface="Calibri Light" panose="020F0302020204030204" pitchFamily="34" charset="0"/>
              </a:defRPr>
            </a:lvl3pPr>
            <a:lvl4pPr indent="0" defTabSz="6858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None/>
              <a:defRPr sz="1600" b="0" baseline="0">
                <a:solidFill>
                  <a:schemeClr val="tx1">
                    <a:tint val="75000"/>
                  </a:schemeClr>
                </a:solidFill>
                <a:cs typeface="Calibri Light" panose="020F0302020204030204" pitchFamily="34" charset="0"/>
              </a:defRPr>
            </a:lvl4pPr>
            <a:lvl5pPr indent="0" defTabSz="59888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None/>
              <a:tabLst/>
              <a:defRPr sz="1600" b="0" baseline="0">
                <a:solidFill>
                  <a:schemeClr val="tx1">
                    <a:tint val="75000"/>
                  </a:schemeClr>
                </a:solidFill>
                <a:cs typeface="Calibri Light" panose="020F0302020204030204" pitchFamily="34" charset="0"/>
              </a:defRPr>
            </a:lvl5pPr>
            <a:lvl6pPr indent="0" defTabSz="685800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None/>
              <a:defRPr sz="1600" baseline="0">
                <a:solidFill>
                  <a:schemeClr val="tx1">
                    <a:tint val="75000"/>
                  </a:schemeClr>
                </a:solidFill>
              </a:defRPr>
            </a:lvl6pPr>
            <a:lvl7pPr indent="0" defTabSz="685800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defTabSz="685800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None/>
              <a:defRPr sz="1600" baseline="0">
                <a:solidFill>
                  <a:schemeClr val="tx1">
                    <a:tint val="75000"/>
                  </a:schemeClr>
                </a:solidFill>
              </a:defRPr>
            </a:lvl8pPr>
            <a:lvl9pPr indent="0" defTabSz="685800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None/>
              <a:defRPr sz="1600" baseline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GB"/>
          </a:p>
        </p:txBody>
      </p:sp>
      <p:sp>
        <p:nvSpPr>
          <p:cNvPr id="15" name="Text Placeholder 4" descr="Text content for header box:&#10;&#10;- Must be a SINGLE clear statement between 2-5 words&#10;- Must be complete, clear, and impactful&#10;- Must contain the name of the project or the name of the client&#10;- Must be in uppercase&#10;&#10;&#10;Example: &quot;[NAME OF THE CLIENT], SOLARIA GENAI PLATFORM&quot;">
            <a:extLst>
              <a:ext uri="{FF2B5EF4-FFF2-40B4-BE49-F238E27FC236}">
                <a16:creationId xmlns:a16="http://schemas.microsoft.com/office/drawing/2014/main" id="{1314DC1A-0608-9369-721E-0DD054139573}"/>
              </a:ext>
            </a:extLst>
          </p:cNvPr>
          <p:cNvSpPr txBox="1">
            <a:spLocks/>
          </p:cNvSpPr>
          <p:nvPr/>
        </p:nvSpPr>
        <p:spPr>
          <a:xfrm>
            <a:off x="419100" y="317378"/>
            <a:ext cx="11188700" cy="387291"/>
          </a:xfrm>
          <a:prstGeom prst="rect">
            <a:avLst/>
          </a:prstGeom>
          <a:ln/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>
                <a:latin typeface="Aptos"/>
              </a:rPr>
              <a:t>ANALISI PRENOTAZIONI HOTEL</a:t>
            </a:r>
          </a:p>
        </p:txBody>
      </p:sp>
      <p:sp>
        <p:nvSpPr>
          <p:cNvPr id="5" name="TextBox 4" descr="Engaging introduction content with a structure useful to introduce the content of the slide. Here is it possible to use Bold Text to make the intoduction effective.&#10;&#10;Requirements for the content:&#10;        - Important concepts must be in **bold** markdown format&#10;        - Maximum 50 words">
            <a:extLst>
              <a:ext uri="{FF2B5EF4-FFF2-40B4-BE49-F238E27FC236}">
                <a16:creationId xmlns:a16="http://schemas.microsoft.com/office/drawing/2014/main" id="{4A2C849E-E3AB-55CD-8711-94E0DEBD3336}"/>
              </a:ext>
            </a:extLst>
          </p:cNvPr>
          <p:cNvSpPr txBox="1"/>
          <p:nvPr/>
        </p:nvSpPr>
        <p:spPr>
          <a:xfrm>
            <a:off x="350100" y="1142583"/>
            <a:ext cx="11257700" cy="6630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400">
                <a:latin typeface="Aptos"/>
              </a:rPr>
              <a:t>Per iniziare la nostra analisi, è fondamentale comprendere la struttura e la ricchezza del dataset a nostra disposizione. Questa slide introduce le </a:t>
            </a:r>
            <a:r>
              <a:rPr sz="1400" b="1">
                <a:latin typeface="Aptos"/>
              </a:rPr>
              <a:t>variabili chiave</a:t>
            </a:r>
            <a:r>
              <a:rPr sz="1400">
                <a:latin typeface="Aptos"/>
              </a:rPr>
              <a:t> che utilizzeremo per estrarre insight significativi e guidare le nostre decisioni strategiche.</a:t>
            </a:r>
            <a:endParaRPr lang="it-IT" sz="140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itle 3" descr="A clear, concise title that captures the main topic of the slide. Keep it under 10 words.">
            <a:extLst>
              <a:ext uri="{FF2B5EF4-FFF2-40B4-BE49-F238E27FC236}">
                <a16:creationId xmlns:a16="http://schemas.microsoft.com/office/drawing/2014/main" id="{EA1A0836-A53E-C152-A59D-E9C993FC07C8}"/>
              </a:ext>
            </a:extLst>
          </p:cNvPr>
          <p:cNvSpPr txBox="1">
            <a:spLocks/>
          </p:cNvSpPr>
          <p:nvPr/>
        </p:nvSpPr>
        <p:spPr>
          <a:xfrm>
            <a:off x="419100" y="711322"/>
            <a:ext cx="11102386" cy="383026"/>
          </a:xfrm>
          <a:prstGeom prst="rect">
            <a:avLst/>
          </a:prstGeom>
          <a:ln/>
        </p:spPr>
        <p:txBody>
          <a:bodyPr vert="horz" wrap="none" lIns="0" tIns="0" rIns="0" bIns="0" rtlCol="0" anchor="t" anchorCtr="0">
            <a:normAutofit/>
          </a:bodyPr>
          <a:lstStyle>
            <a:lvl1pPr>
              <a:spcBef>
                <a:spcPct val="0"/>
              </a:spcBef>
              <a:buNone/>
              <a:defRPr sz="2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2400">
                <a:latin typeface="Aptos"/>
              </a:rPr>
              <a:t>Comprensione del dataset "Hotel Bookings"</a:t>
            </a:r>
          </a:p>
        </p:txBody>
      </p:sp>
      <p:sp>
        <p:nvSpPr>
          <p:cNvPr id="7" name="object 6" descr="Text content for first section:&#10;        must contain table context and explanation:&#10;        - Must be a paragraph between 100-120 words&#10;        - Must highlight key concepts in **bold** (2-3 terms maximum)&#10;        - Must be complete, clear, and impactful&#10;        - Can use list or bullet points to be more concise&#10;        - The goal is to explain the table, higlight key points of the table, or add some relevant information">
            <a:extLst>
              <a:ext uri="{FF2B5EF4-FFF2-40B4-BE49-F238E27FC236}">
                <a16:creationId xmlns:a16="http://schemas.microsoft.com/office/drawing/2014/main" id="{68E11F84-087C-17D3-1433-5698C1D8AFCF}"/>
              </a:ext>
            </a:extLst>
          </p:cNvPr>
          <p:cNvSpPr txBox="1"/>
          <p:nvPr/>
        </p:nvSpPr>
        <p:spPr>
          <a:xfrm>
            <a:off x="8383705" y="2243566"/>
            <a:ext cx="3475786" cy="3833961"/>
          </a:xfrm>
          <a:prstGeom prst="rect">
            <a:avLst/>
          </a:prstGeom>
        </p:spPr>
        <p:txBody>
          <a:bodyPr vert="horz" wrap="square" lIns="0" tIns="6919" rIns="0" bIns="0" rtlCol="0" anchor="t">
            <a:normAutofit/>
          </a:bodyPr>
          <a:lstStyle/>
          <a:p>
            <a:r>
              <a:rPr sz="1200" dirty="0">
                <a:latin typeface="Aptos"/>
              </a:rPr>
              <a:t>Il dataset </a:t>
            </a:r>
            <a:r>
              <a:rPr sz="1200" dirty="0" err="1">
                <a:latin typeface="Aptos"/>
              </a:rPr>
              <a:t>contiene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informazioni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transazionali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dettagliate</a:t>
            </a:r>
            <a:r>
              <a:rPr sz="1200" dirty="0">
                <a:latin typeface="Aptos"/>
              </a:rPr>
              <a:t> per un </a:t>
            </a:r>
            <a:r>
              <a:rPr lang="it-IT" sz="1200" b="1" dirty="0">
                <a:latin typeface="Aptos"/>
              </a:rPr>
              <a:t>C</a:t>
            </a:r>
            <a:r>
              <a:rPr sz="1200" b="1" dirty="0" err="1">
                <a:latin typeface="Aptos"/>
              </a:rPr>
              <a:t>ity</a:t>
            </a:r>
            <a:r>
              <a:rPr sz="1200" b="1" dirty="0">
                <a:latin typeface="Aptos"/>
              </a:rPr>
              <a:t> hotel</a:t>
            </a:r>
            <a:r>
              <a:rPr sz="1200" dirty="0">
                <a:latin typeface="Aptos"/>
              </a:rPr>
              <a:t> e un </a:t>
            </a:r>
            <a:r>
              <a:rPr lang="it-IT" sz="1200" b="1" dirty="0">
                <a:latin typeface="Aptos"/>
              </a:rPr>
              <a:t>R</a:t>
            </a:r>
            <a:r>
              <a:rPr sz="1200" b="1" dirty="0" err="1">
                <a:latin typeface="Aptos"/>
              </a:rPr>
              <a:t>esort</a:t>
            </a:r>
            <a:r>
              <a:rPr sz="1200" b="1" dirty="0">
                <a:latin typeface="Aptos"/>
              </a:rPr>
              <a:t> hotel</a:t>
            </a:r>
            <a:r>
              <a:rPr sz="1200" dirty="0">
                <a:latin typeface="Aptos"/>
              </a:rPr>
              <a:t>, </a:t>
            </a:r>
            <a:r>
              <a:rPr sz="1200" dirty="0" err="1">
                <a:latin typeface="Aptos"/>
              </a:rPr>
              <a:t>offrendo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una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visione</a:t>
            </a:r>
            <a:r>
              <a:rPr sz="1200" dirty="0">
                <a:latin typeface="Aptos"/>
              </a:rPr>
              <a:t> completa delle </a:t>
            </a:r>
            <a:r>
              <a:rPr sz="1200" dirty="0" err="1">
                <a:latin typeface="Aptos"/>
              </a:rPr>
              <a:t>operazioni</a:t>
            </a:r>
            <a:r>
              <a:rPr sz="1200" dirty="0">
                <a:latin typeface="Aptos"/>
              </a:rPr>
              <a:t> di </a:t>
            </a:r>
            <a:r>
              <a:rPr sz="1200" dirty="0" err="1">
                <a:latin typeface="Aptos"/>
              </a:rPr>
              <a:t>prenotazione</a:t>
            </a:r>
            <a:r>
              <a:rPr sz="1200" dirty="0">
                <a:latin typeface="Aptos"/>
              </a:rPr>
              <a:t>. </a:t>
            </a:r>
            <a:endParaRPr lang="it-IT" sz="1200" dirty="0">
              <a:latin typeface="Aptos"/>
            </a:endParaRPr>
          </a:p>
          <a:p>
            <a:r>
              <a:rPr sz="1200" dirty="0">
                <a:latin typeface="Aptos"/>
              </a:rPr>
              <a:t>Include </a:t>
            </a:r>
            <a:r>
              <a:rPr sz="1200" dirty="0" err="1">
                <a:latin typeface="Aptos"/>
              </a:rPr>
              <a:t>una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varietà</a:t>
            </a:r>
            <a:r>
              <a:rPr sz="1200" dirty="0">
                <a:latin typeface="Aptos"/>
              </a:rPr>
              <a:t> di </a:t>
            </a:r>
            <a:r>
              <a:rPr sz="1200" dirty="0" err="1">
                <a:latin typeface="Aptos"/>
              </a:rPr>
              <a:t>variabili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cruciali</a:t>
            </a:r>
            <a:r>
              <a:rPr sz="1200" dirty="0">
                <a:latin typeface="Aptos"/>
              </a:rPr>
              <a:t> come le date di </a:t>
            </a:r>
            <a:r>
              <a:rPr sz="1200" dirty="0" err="1">
                <a:latin typeface="Aptos"/>
              </a:rPr>
              <a:t>prenotazione</a:t>
            </a:r>
            <a:r>
              <a:rPr sz="1200" dirty="0">
                <a:latin typeface="Aptos"/>
              </a:rPr>
              <a:t>, la </a:t>
            </a:r>
            <a:r>
              <a:rPr sz="1200" dirty="0" err="1">
                <a:latin typeface="Aptos"/>
              </a:rPr>
              <a:t>durata</a:t>
            </a:r>
            <a:r>
              <a:rPr sz="1200" dirty="0">
                <a:latin typeface="Aptos"/>
              </a:rPr>
              <a:t> del </a:t>
            </a:r>
            <a:r>
              <a:rPr sz="1200" dirty="0" err="1">
                <a:latin typeface="Aptos"/>
              </a:rPr>
              <a:t>soggiorno</a:t>
            </a:r>
            <a:r>
              <a:rPr sz="1200" dirty="0">
                <a:latin typeface="Aptos"/>
              </a:rPr>
              <a:t>, le </a:t>
            </a:r>
            <a:r>
              <a:rPr sz="1200" dirty="0" err="1">
                <a:latin typeface="Aptos"/>
              </a:rPr>
              <a:t>caratteristiche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demografiche</a:t>
            </a:r>
            <a:r>
              <a:rPr sz="1200" dirty="0">
                <a:latin typeface="Aptos"/>
              </a:rPr>
              <a:t> degli </a:t>
            </a:r>
            <a:r>
              <a:rPr sz="1200" dirty="0" err="1">
                <a:latin typeface="Aptos"/>
              </a:rPr>
              <a:t>ospiti</a:t>
            </a:r>
            <a:r>
              <a:rPr sz="1200" dirty="0">
                <a:latin typeface="Aptos"/>
              </a:rPr>
              <a:t> (</a:t>
            </a:r>
            <a:r>
              <a:rPr sz="1200" dirty="0" err="1">
                <a:latin typeface="Aptos"/>
              </a:rPr>
              <a:t>numero</a:t>
            </a:r>
            <a:r>
              <a:rPr sz="1200" dirty="0">
                <a:latin typeface="Aptos"/>
              </a:rPr>
              <a:t> di </a:t>
            </a:r>
            <a:r>
              <a:rPr sz="1200" dirty="0" err="1">
                <a:latin typeface="Aptos"/>
              </a:rPr>
              <a:t>adulti</a:t>
            </a:r>
            <a:r>
              <a:rPr sz="1200" dirty="0">
                <a:latin typeface="Aptos"/>
              </a:rPr>
              <a:t>, bambini e </a:t>
            </a:r>
            <a:r>
              <a:rPr sz="1200" dirty="0" err="1">
                <a:latin typeface="Aptos"/>
              </a:rPr>
              <a:t>neonati</a:t>
            </a:r>
            <a:r>
              <a:rPr sz="1200" dirty="0">
                <a:latin typeface="Aptos"/>
              </a:rPr>
              <a:t>) e le </a:t>
            </a:r>
            <a:r>
              <a:rPr lang="it-IT" sz="1200" dirty="0">
                <a:latin typeface="Aptos"/>
              </a:rPr>
              <a:t>stanze richieste in fase di prenotazione</a:t>
            </a:r>
            <a:r>
              <a:rPr sz="1200" dirty="0">
                <a:latin typeface="Aptos"/>
              </a:rPr>
              <a:t>. </a:t>
            </a:r>
            <a:endParaRPr lang="it-IT" sz="1200" dirty="0">
              <a:latin typeface="Aptos"/>
            </a:endParaRPr>
          </a:p>
          <a:p>
            <a:r>
              <a:rPr sz="1200" dirty="0">
                <a:latin typeface="Aptos"/>
              </a:rPr>
              <a:t>Questa </a:t>
            </a:r>
            <a:r>
              <a:rPr sz="1200" dirty="0" err="1">
                <a:latin typeface="Aptos"/>
              </a:rPr>
              <a:t>ricchezza</a:t>
            </a:r>
            <a:r>
              <a:rPr sz="1200" dirty="0">
                <a:latin typeface="Aptos"/>
              </a:rPr>
              <a:t> di </a:t>
            </a:r>
            <a:r>
              <a:rPr sz="1200" dirty="0" err="1">
                <a:latin typeface="Aptos"/>
              </a:rPr>
              <a:t>dati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fornisce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una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solida</a:t>
            </a:r>
            <a:r>
              <a:rPr sz="1200" dirty="0">
                <a:latin typeface="Aptos"/>
              </a:rPr>
              <a:t> base per </a:t>
            </a:r>
            <a:r>
              <a:rPr sz="1200" dirty="0" err="1">
                <a:latin typeface="Aptos"/>
              </a:rPr>
              <a:t>analizzare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i</a:t>
            </a:r>
            <a:r>
              <a:rPr sz="1200" dirty="0">
                <a:latin typeface="Aptos"/>
              </a:rPr>
              <a:t> trend </a:t>
            </a:r>
            <a:r>
              <a:rPr sz="1200" dirty="0" err="1">
                <a:latin typeface="Aptos"/>
              </a:rPr>
              <a:t>stagionali</a:t>
            </a:r>
            <a:r>
              <a:rPr sz="1200" dirty="0">
                <a:latin typeface="Aptos"/>
              </a:rPr>
              <a:t>, </a:t>
            </a:r>
            <a:r>
              <a:rPr sz="1200" dirty="0" err="1">
                <a:latin typeface="Aptos"/>
              </a:rPr>
              <a:t>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tassi</a:t>
            </a:r>
            <a:r>
              <a:rPr sz="1200" dirty="0">
                <a:latin typeface="Aptos"/>
              </a:rPr>
              <a:t> di </a:t>
            </a:r>
            <a:r>
              <a:rPr sz="1200" dirty="0" err="1">
                <a:latin typeface="Aptos"/>
              </a:rPr>
              <a:t>cancellazione</a:t>
            </a:r>
            <a:r>
              <a:rPr sz="1200" dirty="0">
                <a:latin typeface="Aptos"/>
              </a:rPr>
              <a:t> e il </a:t>
            </a:r>
            <a:r>
              <a:rPr sz="1200" dirty="0" err="1">
                <a:latin typeface="Aptos"/>
              </a:rPr>
              <a:t>comportamento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dei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clienti</a:t>
            </a:r>
            <a:r>
              <a:rPr sz="1200" dirty="0">
                <a:latin typeface="Aptos"/>
              </a:rPr>
              <a:t>. </a:t>
            </a:r>
            <a:endParaRPr lang="it-IT" sz="1200" dirty="0">
              <a:latin typeface="Aptos"/>
            </a:endParaRPr>
          </a:p>
          <a:p>
            <a:r>
              <a:rPr sz="1200" dirty="0" err="1">
                <a:latin typeface="Aptos"/>
              </a:rPr>
              <a:t>Comprendere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queste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colonne</a:t>
            </a:r>
            <a:r>
              <a:rPr sz="1200" dirty="0">
                <a:latin typeface="Aptos"/>
              </a:rPr>
              <a:t> è il primo </a:t>
            </a:r>
            <a:r>
              <a:rPr sz="1200" dirty="0" err="1">
                <a:latin typeface="Aptos"/>
              </a:rPr>
              <a:t>passo</a:t>
            </a:r>
            <a:r>
              <a:rPr sz="1200" dirty="0">
                <a:latin typeface="Aptos"/>
              </a:rPr>
              <a:t> per </a:t>
            </a:r>
            <a:r>
              <a:rPr sz="1200" dirty="0" err="1">
                <a:latin typeface="Aptos"/>
              </a:rPr>
              <a:t>trasformare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dati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grezzi</a:t>
            </a:r>
            <a:r>
              <a:rPr sz="1200" dirty="0">
                <a:latin typeface="Aptos"/>
              </a:rPr>
              <a:t> in </a:t>
            </a:r>
            <a:r>
              <a:rPr sz="1200" b="1" dirty="0">
                <a:latin typeface="Aptos"/>
              </a:rPr>
              <a:t>intelligence </a:t>
            </a:r>
            <a:r>
              <a:rPr sz="1200" b="1" dirty="0" err="1">
                <a:latin typeface="Aptos"/>
              </a:rPr>
              <a:t>strategica</a:t>
            </a:r>
            <a:r>
              <a:rPr sz="1200" dirty="0">
                <a:latin typeface="Aptos"/>
              </a:rPr>
              <a:t>, </a:t>
            </a:r>
            <a:r>
              <a:rPr sz="1200" dirty="0" err="1">
                <a:latin typeface="Aptos"/>
              </a:rPr>
              <a:t>permettendoci</a:t>
            </a:r>
            <a:r>
              <a:rPr sz="1200" dirty="0">
                <a:latin typeface="Aptos"/>
              </a:rPr>
              <a:t> di </a:t>
            </a:r>
            <a:r>
              <a:rPr sz="1200" dirty="0" err="1">
                <a:latin typeface="Aptos"/>
              </a:rPr>
              <a:t>ottimizzare</a:t>
            </a:r>
            <a:r>
              <a:rPr sz="1200" dirty="0">
                <a:latin typeface="Aptos"/>
              </a:rPr>
              <a:t> le </a:t>
            </a:r>
            <a:r>
              <a:rPr sz="1200" dirty="0" err="1">
                <a:latin typeface="Aptos"/>
              </a:rPr>
              <a:t>operazioni</a:t>
            </a:r>
            <a:r>
              <a:rPr sz="1200" dirty="0">
                <a:latin typeface="Aptos"/>
              </a:rPr>
              <a:t> e </a:t>
            </a:r>
            <a:r>
              <a:rPr sz="1200" dirty="0" err="1">
                <a:latin typeface="Aptos"/>
              </a:rPr>
              <a:t>massimizzare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ricavi</a:t>
            </a:r>
            <a:r>
              <a:rPr sz="1200" dirty="0">
                <a:latin typeface="Aptos"/>
              </a:rPr>
              <a:t>.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A5BD9B-974F-9849-98F0-13B3302259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86257"/>
              </p:ext>
            </p:extLst>
          </p:nvPr>
        </p:nvGraphicFramePr>
        <p:xfrm>
          <a:off x="350100" y="2037141"/>
          <a:ext cx="7489372" cy="429241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44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300" dirty="0"/>
                        <a:t>Colonna </a:t>
                      </a:r>
                      <a:r>
                        <a:rPr sz="1300" dirty="0" err="1"/>
                        <a:t>Chiave</a:t>
                      </a:r>
                      <a:endParaRPr sz="1300" dirty="0">
                        <a:latin typeface="Aptos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300" dirty="0" err="1"/>
                        <a:t>Descrizione</a:t>
                      </a:r>
                      <a:endParaRPr sz="1300" dirty="0">
                        <a:latin typeface="Aptos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54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hotel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Tipo di hotel (</a:t>
                      </a:r>
                      <a:r>
                        <a:rPr sz="1200" b="1" dirty="0">
                          <a:solidFill>
                            <a:srgbClr val="0B2545"/>
                          </a:solidFill>
                        </a:rPr>
                        <a:t>City Hotel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o </a:t>
                      </a:r>
                      <a:r>
                        <a:rPr sz="1200" b="1" dirty="0">
                          <a:solidFill>
                            <a:srgbClr val="0B2545"/>
                          </a:solidFill>
                        </a:rPr>
                        <a:t>Resort Hotel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)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54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solidFill>
                            <a:srgbClr val="0B2545"/>
                          </a:solidFill>
                        </a:rPr>
                        <a:t>is_canceled</a:t>
                      </a:r>
                      <a:endParaRPr sz="120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Stato della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prenotazione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(1 =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Cancellata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, 0 = Non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cancellata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)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54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lead_time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Numero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di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giorni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tra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la data di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prenotazione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e la data di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arrivo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542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defRPr/>
                      </a:pPr>
                      <a:r>
                        <a:rPr sz="1200" kern="1200" dirty="0" err="1">
                          <a:solidFill>
                            <a:srgbClr val="0B2545"/>
                          </a:solidFill>
                          <a:latin typeface="+mn-lt"/>
                          <a:ea typeface="+mn-ea"/>
                          <a:cs typeface="+mn-cs"/>
                        </a:rPr>
                        <a:t>arrival_date_year</a:t>
                      </a:r>
                      <a:r>
                        <a:rPr lang="it-IT" sz="1200" kern="1200" dirty="0">
                          <a:solidFill>
                            <a:srgbClr val="0B2545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it-IT" sz="1200" kern="1200" dirty="0" err="1">
                          <a:solidFill>
                            <a:srgbClr val="0B2545"/>
                          </a:solidFill>
                          <a:latin typeface="+mn-lt"/>
                          <a:ea typeface="+mn-ea"/>
                          <a:cs typeface="+mn-cs"/>
                        </a:rPr>
                        <a:t>month</a:t>
                      </a:r>
                      <a:r>
                        <a:rPr lang="it-IT" sz="1200" kern="1200" dirty="0">
                          <a:solidFill>
                            <a:srgbClr val="0B2545"/>
                          </a:solidFill>
                          <a:latin typeface="+mn-lt"/>
                          <a:ea typeface="+mn-ea"/>
                          <a:cs typeface="+mn-cs"/>
                        </a:rPr>
                        <a:t>/day</a:t>
                      </a:r>
                      <a:endParaRPr sz="1200" kern="1200" dirty="0">
                        <a:solidFill>
                          <a:srgbClr val="0B254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defRPr/>
                      </a:pPr>
                      <a:r>
                        <a:rPr sz="1200" kern="1200" dirty="0">
                          <a:solidFill>
                            <a:srgbClr val="0B2545"/>
                          </a:solidFill>
                          <a:latin typeface="+mn-lt"/>
                          <a:ea typeface="+mn-ea"/>
                          <a:cs typeface="+mn-cs"/>
                        </a:rPr>
                        <a:t>Anno</a:t>
                      </a:r>
                      <a:r>
                        <a:rPr lang="it-IT" sz="1200" kern="1200" dirty="0">
                          <a:solidFill>
                            <a:srgbClr val="0B2545"/>
                          </a:solidFill>
                          <a:latin typeface="+mn-lt"/>
                          <a:ea typeface="+mn-ea"/>
                          <a:cs typeface="+mn-cs"/>
                        </a:rPr>
                        <a:t>/mese/giorno di</a:t>
                      </a:r>
                      <a:r>
                        <a:rPr sz="1200" kern="1200" dirty="0">
                          <a:solidFill>
                            <a:srgbClr val="0B2545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sz="1200" kern="1200" dirty="0" err="1">
                          <a:solidFill>
                            <a:srgbClr val="0B2545"/>
                          </a:solidFill>
                          <a:latin typeface="+mn-lt"/>
                          <a:ea typeface="+mn-ea"/>
                          <a:cs typeface="+mn-cs"/>
                        </a:rPr>
                        <a:t>arrivo</a:t>
                      </a:r>
                      <a:endParaRPr sz="1200" kern="1200" dirty="0">
                        <a:solidFill>
                          <a:srgbClr val="0B254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54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stays_in_weekend</a:t>
                      </a:r>
                      <a:r>
                        <a:rPr lang="it-IT" sz="1200" dirty="0">
                          <a:solidFill>
                            <a:srgbClr val="0B2545"/>
                          </a:solidFill>
                        </a:rPr>
                        <a:t>/week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_nights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Numero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di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notti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di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soggiorno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durante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il fine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settimana</a:t>
                      </a:r>
                      <a:r>
                        <a:rPr lang="it-IT" sz="1200" dirty="0">
                          <a:solidFill>
                            <a:srgbClr val="0B2545"/>
                          </a:solidFill>
                        </a:rPr>
                        <a:t>/durante la settimana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54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A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dults</a:t>
                      </a:r>
                      <a:r>
                        <a:rPr lang="it-IT" sz="1200" dirty="0">
                          <a:solidFill>
                            <a:srgbClr val="0B2545"/>
                          </a:solidFill>
                        </a:rPr>
                        <a:t>/</a:t>
                      </a:r>
                      <a:r>
                        <a:rPr lang="it-IT" sz="1200" dirty="0" err="1">
                          <a:solidFill>
                            <a:srgbClr val="0B2545"/>
                          </a:solidFill>
                        </a:rPr>
                        <a:t>children</a:t>
                      </a:r>
                      <a:r>
                        <a:rPr lang="it-IT" sz="1200" dirty="0">
                          <a:solidFill>
                            <a:srgbClr val="0B2545"/>
                          </a:solidFill>
                        </a:rPr>
                        <a:t>/babies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Numero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di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adulti</a:t>
                      </a:r>
                      <a:r>
                        <a:rPr lang="it-IT" sz="1200" dirty="0">
                          <a:solidFill>
                            <a:srgbClr val="0B2545"/>
                          </a:solidFill>
                        </a:rPr>
                        <a:t>/bambini/neonati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54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1200" dirty="0" err="1">
                          <a:solidFill>
                            <a:srgbClr val="0B2545"/>
                          </a:solidFill>
                        </a:rPr>
                        <a:t>Market_segment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1200" dirty="0">
                          <a:solidFill>
                            <a:srgbClr val="0B2545"/>
                          </a:solidFill>
                        </a:rPr>
                        <a:t>Segmento di mercato che effettua la prenotazione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54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1200" dirty="0" err="1">
                          <a:solidFill>
                            <a:srgbClr val="0B2545"/>
                          </a:solidFill>
                        </a:rPr>
                        <a:t>Reserved</a:t>
                      </a:r>
                      <a:r>
                        <a:rPr lang="it-IT" sz="1200" dirty="0">
                          <a:solidFill>
                            <a:srgbClr val="0B2545"/>
                          </a:solidFill>
                        </a:rPr>
                        <a:t>/</a:t>
                      </a:r>
                      <a:r>
                        <a:rPr lang="it-IT" sz="1200" dirty="0" err="1">
                          <a:solidFill>
                            <a:srgbClr val="0B2545"/>
                          </a:solidFill>
                        </a:rPr>
                        <a:t>assigned_room_type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1200" dirty="0">
                          <a:solidFill>
                            <a:srgbClr val="0B2545"/>
                          </a:solidFill>
                        </a:rPr>
                        <a:t>Tipologia di stanza riservata/assegnata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54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1200" dirty="0" err="1">
                          <a:solidFill>
                            <a:srgbClr val="0B2545"/>
                          </a:solidFill>
                        </a:rPr>
                        <a:t>Reservation_status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it-IT" sz="1200" dirty="0">
                          <a:solidFill>
                            <a:srgbClr val="0B2545"/>
                          </a:solidFill>
                        </a:rPr>
                        <a:t>Data al quale risale l’ultimo aggiornamento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7A213B-7B9C-18D5-F80E-24264C1EE753}"/>
              </a:ext>
            </a:extLst>
          </p:cNvPr>
          <p:cNvSpPr/>
          <p:nvPr/>
        </p:nvSpPr>
        <p:spPr bwMode="gray">
          <a:xfrm rot="10800000">
            <a:off x="4240001" y="2059362"/>
            <a:ext cx="3455821" cy="4178756"/>
          </a:xfrm>
          <a:prstGeom prst="rect">
            <a:avLst/>
          </a:prstGeom>
          <a:gradFill flip="none" rotWithShape="1">
            <a:gsLst>
              <a:gs pos="77000">
                <a:srgbClr val="FDFDFD"/>
              </a:gs>
              <a:gs pos="100000">
                <a:schemeClr val="bg1">
                  <a:lumMod val="95000"/>
                </a:schemeClr>
              </a:gs>
              <a:gs pos="0">
                <a:schemeClr val="bg1"/>
              </a:gs>
            </a:gsLst>
            <a:lin ang="5400000" scaled="1"/>
            <a:tileRect/>
          </a:gradFill>
          <a:ln w="3175">
            <a:noFill/>
          </a:ln>
          <a:effectLst/>
        </p:spPr>
        <p:txBody>
          <a:bodyPr vert="horz" wrap="square" lIns="91440" tIns="182880" rIns="91440" bIns="91440" numCol="1" anchor="t" anchorCtr="0" compatLnSpc="1">
            <a:prstTxWarp prst="textNoShape">
              <a:avLst/>
            </a:prstTxWarp>
          </a:bodyPr>
          <a:lstStyle/>
          <a:p>
            <a:pPr marL="137160" marR="0" lvl="1" indent="-13716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0255D0-E46A-9DB2-E1CD-CB281BF0694E}"/>
              </a:ext>
            </a:extLst>
          </p:cNvPr>
          <p:cNvSpPr/>
          <p:nvPr/>
        </p:nvSpPr>
        <p:spPr bwMode="gray">
          <a:xfrm rot="10800000">
            <a:off x="8003799" y="2059362"/>
            <a:ext cx="3455821" cy="4178756"/>
          </a:xfrm>
          <a:prstGeom prst="rect">
            <a:avLst/>
          </a:prstGeom>
          <a:gradFill flip="none" rotWithShape="1">
            <a:gsLst>
              <a:gs pos="77000">
                <a:srgbClr val="FDFDFD"/>
              </a:gs>
              <a:gs pos="100000">
                <a:schemeClr val="bg1">
                  <a:lumMod val="95000"/>
                </a:schemeClr>
              </a:gs>
              <a:gs pos="0">
                <a:schemeClr val="bg1"/>
              </a:gs>
            </a:gsLst>
            <a:lin ang="5400000" scaled="1"/>
            <a:tileRect/>
          </a:gradFill>
          <a:ln w="3175">
            <a:noFill/>
          </a:ln>
          <a:effectLst/>
        </p:spPr>
        <p:txBody>
          <a:bodyPr vert="horz" wrap="square" lIns="91440" tIns="182880" rIns="91440" bIns="91440" numCol="1" anchor="t" anchorCtr="0" compatLnSpc="1">
            <a:prstTxWarp prst="textNoShape">
              <a:avLst/>
            </a:prstTxWarp>
          </a:bodyPr>
          <a:lstStyle/>
          <a:p>
            <a:pPr marL="137160" marR="0" lvl="1" indent="-13716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965EA6-EA75-A107-FCC3-26C3062D42AF}"/>
              </a:ext>
            </a:extLst>
          </p:cNvPr>
          <p:cNvSpPr/>
          <p:nvPr/>
        </p:nvSpPr>
        <p:spPr bwMode="gray">
          <a:xfrm rot="10800000">
            <a:off x="419100" y="2059362"/>
            <a:ext cx="3455821" cy="4177970"/>
          </a:xfrm>
          <a:prstGeom prst="rect">
            <a:avLst/>
          </a:prstGeom>
          <a:gradFill flip="none" rotWithShape="1">
            <a:gsLst>
              <a:gs pos="77000">
                <a:srgbClr val="FDFDFD"/>
              </a:gs>
              <a:gs pos="100000">
                <a:schemeClr val="bg1">
                  <a:lumMod val="95000"/>
                </a:schemeClr>
              </a:gs>
              <a:gs pos="0">
                <a:schemeClr val="bg1"/>
              </a:gs>
            </a:gsLst>
            <a:lin ang="5400000" scaled="1"/>
            <a:tileRect/>
          </a:gradFill>
          <a:ln w="3175">
            <a:noFill/>
          </a:ln>
          <a:effectLst/>
        </p:spPr>
        <p:txBody>
          <a:bodyPr vert="horz" wrap="square" lIns="91440" tIns="182880" rIns="91440" bIns="91440" numCol="1" anchor="t" anchorCtr="0" compatLnSpc="1">
            <a:prstTxWarp prst="textNoShape">
              <a:avLst/>
            </a:prstTxWarp>
          </a:bodyPr>
          <a:lstStyle/>
          <a:p>
            <a:pPr marL="137160" marR="0" lvl="1" indent="-13716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25" name="Chevron 28">
            <a:extLst>
              <a:ext uri="{FF2B5EF4-FFF2-40B4-BE49-F238E27FC236}">
                <a16:creationId xmlns:a16="http://schemas.microsoft.com/office/drawing/2014/main" id="{DE30AB11-7976-828E-0A4A-4B24397B4F0C}"/>
              </a:ext>
            </a:extLst>
          </p:cNvPr>
          <p:cNvSpPr/>
          <p:nvPr/>
        </p:nvSpPr>
        <p:spPr>
          <a:xfrm>
            <a:off x="438408" y="1285414"/>
            <a:ext cx="3741313" cy="685199"/>
          </a:xfrm>
          <a:prstGeom prst="chevron">
            <a:avLst/>
          </a:prstGeom>
          <a:solidFill>
            <a:srgbClr val="DCE8F5"/>
          </a:solidFill>
          <a:ln w="25400" cap="flat" cmpd="sng" algn="ctr">
            <a:noFill/>
            <a:prstDash val="solid"/>
          </a:ln>
          <a:effectLst/>
        </p:spPr>
        <p:txBody>
          <a:bodyPr lIns="91440" tIns="91440" rIns="91440" bIns="91440" rtlCol="0" anchor="ctr"/>
          <a:lstStyle/>
          <a:p>
            <a:endParaRPr lang="it-IT" sz="1000" b="1" kern="0" dirty="0">
              <a:solidFill>
                <a:srgbClr val="1C3D26"/>
              </a:solidFill>
              <a:latin typeface="Aptos"/>
            </a:endParaRPr>
          </a:p>
        </p:txBody>
      </p:sp>
      <p:sp>
        <p:nvSpPr>
          <p:cNvPr id="26" name="Chevron 29">
            <a:extLst>
              <a:ext uri="{FF2B5EF4-FFF2-40B4-BE49-F238E27FC236}">
                <a16:creationId xmlns:a16="http://schemas.microsoft.com/office/drawing/2014/main" id="{B78A7D97-757A-5356-68AE-9CB2E908CB5A}"/>
              </a:ext>
            </a:extLst>
          </p:cNvPr>
          <p:cNvSpPr/>
          <p:nvPr/>
        </p:nvSpPr>
        <p:spPr>
          <a:xfrm>
            <a:off x="4240001" y="1285414"/>
            <a:ext cx="3740400" cy="685199"/>
          </a:xfrm>
          <a:prstGeom prst="chevron">
            <a:avLst/>
          </a:prstGeom>
          <a:solidFill>
            <a:srgbClr val="62B5E5"/>
          </a:solidFill>
          <a:ln w="25400" cap="flat" cmpd="sng" algn="ctr">
            <a:noFill/>
            <a:prstDash val="solid"/>
          </a:ln>
          <a:effectLst/>
        </p:spPr>
        <p:txBody>
          <a:bodyPr lIns="91440" tIns="91440" rIns="91440" bIns="91440" rtlCol="0" anchor="ctr"/>
          <a:lstStyle/>
          <a:p>
            <a:endParaRPr lang="en-US" sz="1000" b="1" kern="0">
              <a:solidFill>
                <a:srgbClr val="1C3D26"/>
              </a:solidFill>
              <a:latin typeface="Aptos"/>
            </a:endParaRPr>
          </a:p>
        </p:txBody>
      </p:sp>
      <p:sp>
        <p:nvSpPr>
          <p:cNvPr id="27" name="Chevron 29">
            <a:extLst>
              <a:ext uri="{FF2B5EF4-FFF2-40B4-BE49-F238E27FC236}">
                <a16:creationId xmlns:a16="http://schemas.microsoft.com/office/drawing/2014/main" id="{AF346804-5BF9-6B30-8B2C-5671FBE2ADCD}"/>
              </a:ext>
            </a:extLst>
          </p:cNvPr>
          <p:cNvSpPr/>
          <p:nvPr/>
        </p:nvSpPr>
        <p:spPr>
          <a:xfrm>
            <a:off x="8012281" y="1285413"/>
            <a:ext cx="3740400" cy="685199"/>
          </a:xfrm>
          <a:prstGeom prst="chevron">
            <a:avLst/>
          </a:prstGeom>
          <a:solidFill>
            <a:schemeClr val="accent6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91440" rIns="91440" bIns="91440" rtlCol="0" anchor="ctr"/>
          <a:lstStyle/>
          <a:p>
            <a:endParaRPr lang="it-IT" sz="1000" b="1" kern="0">
              <a:solidFill>
                <a:srgbClr val="1C3D26"/>
              </a:solidFill>
              <a:latin typeface="Aptos"/>
            </a:endParaRPr>
          </a:p>
        </p:txBody>
      </p:sp>
      <p:sp>
        <p:nvSpPr>
          <p:cNvPr id="34" name="Text Placeholder 27" descr="Text content for first step:&#10;        - Must consist of 2-3 clear statements between 40-80 words&#10;        - Must highlight key concepts in **bold** (2-3 terms maximum)&#10;        - Must describe the related step in a complete, clear, and impactful way&#10;        &#10;        Example: &quot;Implementing **automated workflows** enables streamlined processing of customer requests, reducing manual intervention and improving **operational efficiency** significantly.">
            <a:extLst>
              <a:ext uri="{FF2B5EF4-FFF2-40B4-BE49-F238E27FC236}">
                <a16:creationId xmlns:a16="http://schemas.microsoft.com/office/drawing/2014/main" id="{7A2AFD4E-1011-44D6-59E1-8D0C90F4A558}"/>
              </a:ext>
            </a:extLst>
          </p:cNvPr>
          <p:cNvSpPr txBox="1">
            <a:spLocks/>
          </p:cNvSpPr>
          <p:nvPr/>
        </p:nvSpPr>
        <p:spPr>
          <a:xfrm>
            <a:off x="582544" y="2222205"/>
            <a:ext cx="3150000" cy="3792515"/>
          </a:xfrm>
          <a:prstGeom prst="rect">
            <a:avLst/>
          </a:prstGeom>
          <a:ln/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 err="1">
                <a:latin typeface="Aptos"/>
              </a:rPr>
              <a:t>Abbiamo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affrontato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i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valori</a:t>
            </a:r>
            <a:r>
              <a:rPr dirty="0">
                <a:latin typeface="Aptos"/>
              </a:rPr>
              <a:t> nulli nell</a:t>
            </a:r>
            <a:r>
              <a:rPr lang="it-IT" dirty="0">
                <a:latin typeface="Aptos"/>
              </a:rPr>
              <a:t>a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colonn</a:t>
            </a:r>
            <a:r>
              <a:rPr lang="it-IT" dirty="0">
                <a:latin typeface="Aptos"/>
              </a:rPr>
              <a:t>a</a:t>
            </a:r>
            <a:r>
              <a:rPr dirty="0">
                <a:latin typeface="Aptos"/>
              </a:rPr>
              <a:t> 'children'. Per </a:t>
            </a:r>
            <a:r>
              <a:rPr dirty="0" err="1">
                <a:latin typeface="Aptos"/>
              </a:rPr>
              <a:t>garantire</a:t>
            </a:r>
            <a:r>
              <a:rPr dirty="0">
                <a:latin typeface="Aptos"/>
              </a:rPr>
              <a:t> la </a:t>
            </a:r>
            <a:r>
              <a:rPr dirty="0" err="1">
                <a:latin typeface="Aptos"/>
              </a:rPr>
              <a:t>completezza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dell'analisi</a:t>
            </a:r>
            <a:r>
              <a:rPr dirty="0">
                <a:latin typeface="Aptos"/>
              </a:rPr>
              <a:t>, </a:t>
            </a:r>
            <a:r>
              <a:rPr dirty="0" err="1">
                <a:latin typeface="Aptos"/>
              </a:rPr>
              <a:t>abbiamo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ipotizzato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che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i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valori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mancanti</a:t>
            </a:r>
            <a:r>
              <a:rPr dirty="0">
                <a:latin typeface="Aptos"/>
              </a:rPr>
              <a:t> per </a:t>
            </a:r>
            <a:r>
              <a:rPr dirty="0" err="1">
                <a:latin typeface="Aptos"/>
              </a:rPr>
              <a:t>i</a:t>
            </a:r>
            <a:r>
              <a:rPr dirty="0">
                <a:latin typeface="Aptos"/>
              </a:rPr>
              <a:t> bambini </a:t>
            </a:r>
            <a:r>
              <a:rPr dirty="0" err="1">
                <a:latin typeface="Aptos"/>
              </a:rPr>
              <a:t>fossero</a:t>
            </a:r>
            <a:r>
              <a:rPr dirty="0">
                <a:latin typeface="Aptos"/>
              </a:rPr>
              <a:t> </a:t>
            </a:r>
            <a:r>
              <a:rPr lang="it-IT" i="1" dirty="0">
                <a:latin typeface="Aptos"/>
              </a:rPr>
              <a:t>«Zero»</a:t>
            </a:r>
            <a:r>
              <a:rPr dirty="0">
                <a:latin typeface="Aptos"/>
              </a:rPr>
              <a:t>. </a:t>
            </a:r>
            <a:endParaRPr lang="it-IT" dirty="0">
              <a:latin typeface="Aptos"/>
            </a:endParaRPr>
          </a:p>
          <a:p>
            <a:r>
              <a:rPr dirty="0">
                <a:latin typeface="Aptos"/>
              </a:rPr>
              <a:t>Questa </a:t>
            </a:r>
            <a:r>
              <a:rPr dirty="0" err="1">
                <a:latin typeface="Aptos"/>
              </a:rPr>
              <a:t>strategia</a:t>
            </a:r>
            <a:r>
              <a:rPr dirty="0">
                <a:latin typeface="Aptos"/>
              </a:rPr>
              <a:t> ci ha </a:t>
            </a:r>
            <a:r>
              <a:rPr dirty="0" err="1">
                <a:latin typeface="Aptos"/>
              </a:rPr>
              <a:t>permesso</a:t>
            </a:r>
            <a:r>
              <a:rPr dirty="0">
                <a:latin typeface="Aptos"/>
              </a:rPr>
              <a:t> di </a:t>
            </a:r>
            <a:r>
              <a:rPr b="1" dirty="0" err="1">
                <a:latin typeface="Aptos"/>
              </a:rPr>
              <a:t>preservare</a:t>
            </a:r>
            <a:r>
              <a:rPr b="1" dirty="0">
                <a:latin typeface="Aptos"/>
              </a:rPr>
              <a:t> tutti </a:t>
            </a:r>
            <a:r>
              <a:rPr b="1" dirty="0" err="1">
                <a:latin typeface="Aptos"/>
              </a:rPr>
              <a:t>i</a:t>
            </a:r>
            <a:r>
              <a:rPr b="1" dirty="0">
                <a:latin typeface="Aptos"/>
              </a:rPr>
              <a:t> record</a:t>
            </a:r>
            <a:r>
              <a:rPr dirty="0">
                <a:latin typeface="Aptos"/>
              </a:rPr>
              <a:t> e </a:t>
            </a:r>
            <a:r>
              <a:rPr dirty="0" err="1">
                <a:latin typeface="Aptos"/>
              </a:rPr>
              <a:t>ottenere</a:t>
            </a:r>
            <a:r>
              <a:rPr dirty="0">
                <a:latin typeface="Aptos"/>
              </a:rPr>
              <a:t> un dataset </a:t>
            </a:r>
            <a:r>
              <a:rPr dirty="0" err="1">
                <a:latin typeface="Aptos"/>
              </a:rPr>
              <a:t>completo</a:t>
            </a:r>
            <a:r>
              <a:rPr dirty="0">
                <a:latin typeface="Aptos"/>
              </a:rPr>
              <a:t>, </a:t>
            </a:r>
            <a:r>
              <a:rPr dirty="0" err="1">
                <a:latin typeface="Aptos"/>
              </a:rPr>
              <a:t>evitando</a:t>
            </a:r>
            <a:r>
              <a:rPr dirty="0">
                <a:latin typeface="Aptos"/>
              </a:rPr>
              <a:t> la </a:t>
            </a:r>
            <a:r>
              <a:rPr dirty="0" err="1">
                <a:latin typeface="Aptos"/>
              </a:rPr>
              <a:t>perdita</a:t>
            </a:r>
            <a:r>
              <a:rPr dirty="0">
                <a:latin typeface="Aptos"/>
              </a:rPr>
              <a:t> di </a:t>
            </a:r>
            <a:r>
              <a:rPr b="1" dirty="0" err="1">
                <a:latin typeface="Aptos"/>
              </a:rPr>
              <a:t>informazioni</a:t>
            </a:r>
            <a:r>
              <a:rPr b="1" dirty="0">
                <a:latin typeface="Aptos"/>
              </a:rPr>
              <a:t> </a:t>
            </a:r>
            <a:r>
              <a:rPr b="1" dirty="0" err="1">
                <a:latin typeface="Aptos"/>
              </a:rPr>
              <a:t>preziose</a:t>
            </a:r>
            <a:r>
              <a:rPr dirty="0">
                <a:latin typeface="Aptos"/>
              </a:rPr>
              <a:t> per le </a:t>
            </a:r>
            <a:r>
              <a:rPr dirty="0" err="1">
                <a:latin typeface="Aptos"/>
              </a:rPr>
              <a:t>fasi</a:t>
            </a:r>
            <a:r>
              <a:rPr dirty="0">
                <a:latin typeface="Aptos"/>
              </a:rPr>
              <a:t> successive</a:t>
            </a:r>
          </a:p>
        </p:txBody>
      </p:sp>
      <p:sp>
        <p:nvSpPr>
          <p:cNvPr id="35" name="Text Placeholder 19" descr="Title for the first step:&#10;        - Must be in bold&#10;        - Should be 2-4 words&#10;        - Must be clear and descriptive">
            <a:extLst>
              <a:ext uri="{FF2B5EF4-FFF2-40B4-BE49-F238E27FC236}">
                <a16:creationId xmlns:a16="http://schemas.microsoft.com/office/drawing/2014/main" id="{19319394-D370-A98E-30ED-43EECD53D079}"/>
              </a:ext>
            </a:extLst>
          </p:cNvPr>
          <p:cNvSpPr txBox="1">
            <a:spLocks/>
          </p:cNvSpPr>
          <p:nvPr/>
        </p:nvSpPr>
        <p:spPr>
          <a:xfrm>
            <a:off x="901360" y="1374283"/>
            <a:ext cx="2373067" cy="507460"/>
          </a:xfrm>
          <a:prstGeom prst="rect">
            <a:avLst/>
          </a:prstGeom>
          <a:ln/>
        </p:spPr>
        <p:txBody>
          <a:bodyPr anchor="ctr" anchorCtr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>
                <a:latin typeface="Aptos"/>
              </a:rPr>
              <a:t>Gestione valori mancanti</a:t>
            </a:r>
          </a:p>
        </p:txBody>
      </p:sp>
      <p:sp>
        <p:nvSpPr>
          <p:cNvPr id="36" name="Text Placeholder 27" descr="Text content for second step:&#10;        - Must consist of 2-3 clear statements between 40-80 words&#10;        - Must highlight key concepts in **bold** (2-3 terms maximum)&#10;        - Must describe the related step in a complete, clear, and impactful way&#10;        &#10;        Example: &quot;Implementing **automated workflows** enables streamlined processing of customer requests, reducing manual intervention and improving **operational efficiency** significantly.">
            <a:extLst>
              <a:ext uri="{FF2B5EF4-FFF2-40B4-BE49-F238E27FC236}">
                <a16:creationId xmlns:a16="http://schemas.microsoft.com/office/drawing/2014/main" id="{00295461-1F22-EF0D-8F58-A635DCE2B8A8}"/>
              </a:ext>
            </a:extLst>
          </p:cNvPr>
          <p:cNvSpPr txBox="1">
            <a:spLocks/>
          </p:cNvSpPr>
          <p:nvPr/>
        </p:nvSpPr>
        <p:spPr>
          <a:xfrm>
            <a:off x="4392911" y="2222204"/>
            <a:ext cx="3150000" cy="3792515"/>
          </a:xfrm>
          <a:prstGeom prst="rect">
            <a:avLst/>
          </a:prstGeom>
          <a:ln/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latin typeface="Aptos"/>
              </a:rPr>
              <a:t>È </a:t>
            </a:r>
            <a:r>
              <a:rPr dirty="0" err="1">
                <a:latin typeface="Aptos"/>
              </a:rPr>
              <a:t>stato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eseguito</a:t>
            </a:r>
            <a:r>
              <a:rPr dirty="0">
                <a:latin typeface="Aptos"/>
              </a:rPr>
              <a:t> un </a:t>
            </a:r>
            <a:r>
              <a:rPr dirty="0" err="1">
                <a:latin typeface="Aptos"/>
              </a:rPr>
              <a:t>processo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rigoroso</a:t>
            </a:r>
            <a:r>
              <a:rPr dirty="0">
                <a:latin typeface="Aptos"/>
              </a:rPr>
              <a:t> per </a:t>
            </a:r>
            <a:r>
              <a:rPr dirty="0" err="1">
                <a:latin typeface="Aptos"/>
              </a:rPr>
              <a:t>identificare</a:t>
            </a:r>
            <a:r>
              <a:rPr dirty="0">
                <a:latin typeface="Aptos"/>
              </a:rPr>
              <a:t> e </a:t>
            </a:r>
            <a:r>
              <a:rPr dirty="0" err="1">
                <a:latin typeface="Aptos"/>
              </a:rPr>
              <a:t>rimuovere</a:t>
            </a:r>
            <a:r>
              <a:rPr dirty="0">
                <a:latin typeface="Aptos"/>
              </a:rPr>
              <a:t> le </a:t>
            </a:r>
            <a:r>
              <a:rPr lang="it-IT" dirty="0">
                <a:latin typeface="Aptos"/>
              </a:rPr>
              <a:t>colonne del dataset non funzionali agli scopi di questa analisi.</a:t>
            </a:r>
          </a:p>
          <a:p>
            <a:r>
              <a:rPr lang="it-IT" dirty="0">
                <a:latin typeface="Aptos"/>
              </a:rPr>
              <a:t>L’obiettivo è stato quello di lavorare con un dataset quanto più leggero possibile al fine di non appesantire Python e Power BI</a:t>
            </a:r>
          </a:p>
        </p:txBody>
      </p:sp>
      <p:sp>
        <p:nvSpPr>
          <p:cNvPr id="37" name="Text Placeholder 19" descr="Title for the second step:&#10;        - Must be in bold&#10;        - Should be 2-4 words&#10;        - Must be clear and descriptive">
            <a:extLst>
              <a:ext uri="{FF2B5EF4-FFF2-40B4-BE49-F238E27FC236}">
                <a16:creationId xmlns:a16="http://schemas.microsoft.com/office/drawing/2014/main" id="{6335BD7C-0363-E587-39AD-7AFE5F1E798D}"/>
              </a:ext>
            </a:extLst>
          </p:cNvPr>
          <p:cNvSpPr txBox="1">
            <a:spLocks/>
          </p:cNvSpPr>
          <p:nvPr/>
        </p:nvSpPr>
        <p:spPr>
          <a:xfrm>
            <a:off x="4687299" y="1374283"/>
            <a:ext cx="2372400" cy="507460"/>
          </a:xfrm>
          <a:prstGeom prst="rect">
            <a:avLst/>
          </a:prstGeom>
          <a:ln/>
        </p:spPr>
        <p:txBody>
          <a:bodyPr anchor="ctr" anchorCtr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dirty="0" err="1">
                <a:latin typeface="Aptos"/>
              </a:rPr>
              <a:t>Rimozione</a:t>
            </a:r>
            <a:r>
              <a:rPr b="1" dirty="0">
                <a:latin typeface="Aptos"/>
              </a:rPr>
              <a:t> </a:t>
            </a:r>
            <a:r>
              <a:rPr lang="it-IT" b="1" dirty="0">
                <a:latin typeface="Aptos"/>
              </a:rPr>
              <a:t>colonne non utilizzate</a:t>
            </a:r>
            <a:endParaRPr b="1" dirty="0">
              <a:latin typeface="Aptos"/>
            </a:endParaRPr>
          </a:p>
        </p:txBody>
      </p:sp>
      <p:sp>
        <p:nvSpPr>
          <p:cNvPr id="38" name="Text Placeholder 27" descr="Text content for third step:&#10;        - Must consist of 2-3 clear statements between 40-80 words&#10;        - Must highlight key concepts in **bold** (2-3 terms maximum)&#10;        - Must describe the related step in a complete, clear, and impactful way&#10;        &#10;        Example: &quot;Implementing **automated workflows** enables streamlined processing of customer requests, reducing manual intervention and improving **operational efficiency** significantly.">
            <a:extLst>
              <a:ext uri="{FF2B5EF4-FFF2-40B4-BE49-F238E27FC236}">
                <a16:creationId xmlns:a16="http://schemas.microsoft.com/office/drawing/2014/main" id="{889B1189-FFFF-8D28-89FE-8792B2CBE5C3}"/>
              </a:ext>
            </a:extLst>
          </p:cNvPr>
          <p:cNvSpPr txBox="1">
            <a:spLocks/>
          </p:cNvSpPr>
          <p:nvPr/>
        </p:nvSpPr>
        <p:spPr>
          <a:xfrm>
            <a:off x="8156709" y="2222203"/>
            <a:ext cx="3150000" cy="3792515"/>
          </a:xfrm>
          <a:prstGeom prst="rect">
            <a:avLst/>
          </a:prstGeom>
          <a:ln/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latin typeface="Aptos"/>
              </a:rPr>
              <a:t>Per </a:t>
            </a:r>
            <a:r>
              <a:rPr dirty="0" err="1">
                <a:latin typeface="Aptos"/>
              </a:rPr>
              <a:t>assicurare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coerenza</a:t>
            </a:r>
            <a:r>
              <a:rPr dirty="0">
                <a:latin typeface="Aptos"/>
              </a:rPr>
              <a:t>, </a:t>
            </a:r>
            <a:r>
              <a:rPr dirty="0" err="1">
                <a:latin typeface="Aptos"/>
              </a:rPr>
              <a:t>abbiamo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standardizzato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i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formati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dei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dati</a:t>
            </a:r>
            <a:r>
              <a:rPr dirty="0">
                <a:latin typeface="Aptos"/>
              </a:rPr>
              <a:t>. </a:t>
            </a:r>
            <a:endParaRPr lang="it-IT" dirty="0">
              <a:latin typeface="Aptos"/>
            </a:endParaRPr>
          </a:p>
          <a:p>
            <a:r>
              <a:rPr dirty="0">
                <a:latin typeface="Aptos"/>
              </a:rPr>
              <a:t>Le </a:t>
            </a:r>
            <a:r>
              <a:rPr dirty="0" err="1">
                <a:latin typeface="Aptos"/>
              </a:rPr>
              <a:t>colonne</a:t>
            </a:r>
            <a:r>
              <a:rPr dirty="0">
                <a:latin typeface="Aptos"/>
              </a:rPr>
              <a:t> delle date </a:t>
            </a:r>
            <a:r>
              <a:rPr dirty="0" err="1">
                <a:latin typeface="Aptos"/>
              </a:rPr>
              <a:t>sono</a:t>
            </a:r>
            <a:r>
              <a:rPr dirty="0">
                <a:latin typeface="Aptos"/>
              </a:rPr>
              <a:t> state convertite in un </a:t>
            </a:r>
            <a:r>
              <a:rPr dirty="0" err="1">
                <a:latin typeface="Aptos"/>
              </a:rPr>
              <a:t>formato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uniforme</a:t>
            </a:r>
            <a:r>
              <a:rPr dirty="0">
                <a:latin typeface="Aptos"/>
              </a:rPr>
              <a:t> per </a:t>
            </a:r>
            <a:r>
              <a:rPr dirty="0" err="1">
                <a:latin typeface="Aptos"/>
              </a:rPr>
              <a:t>consentire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analisi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temporali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corrette</a:t>
            </a:r>
            <a:r>
              <a:rPr dirty="0">
                <a:latin typeface="Aptos"/>
              </a:rPr>
              <a:t>.</a:t>
            </a:r>
            <a:endParaRPr lang="it-IT" dirty="0">
              <a:latin typeface="Aptos"/>
            </a:endParaRPr>
          </a:p>
          <a:p>
            <a:r>
              <a:rPr dirty="0">
                <a:latin typeface="Aptos"/>
              </a:rPr>
              <a:t>Questa </a:t>
            </a:r>
            <a:r>
              <a:rPr dirty="0" err="1">
                <a:latin typeface="Aptos"/>
              </a:rPr>
              <a:t>operazione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garantisce</a:t>
            </a:r>
            <a:r>
              <a:rPr dirty="0">
                <a:latin typeface="Aptos"/>
              </a:rPr>
              <a:t> </a:t>
            </a:r>
            <a:r>
              <a:rPr b="1" dirty="0" err="1">
                <a:latin typeface="Aptos"/>
              </a:rPr>
              <a:t>aggregazioni</a:t>
            </a:r>
            <a:r>
              <a:rPr b="1" dirty="0">
                <a:latin typeface="Aptos"/>
              </a:rPr>
              <a:t> accurate</a:t>
            </a:r>
            <a:r>
              <a:rPr dirty="0">
                <a:latin typeface="Aptos"/>
              </a:rPr>
              <a:t> e una </a:t>
            </a:r>
            <a:r>
              <a:rPr b="1" dirty="0" err="1">
                <a:latin typeface="Aptos"/>
              </a:rPr>
              <a:t>visualizzazione</a:t>
            </a:r>
            <a:r>
              <a:rPr b="1" dirty="0">
                <a:latin typeface="Aptos"/>
              </a:rPr>
              <a:t> </a:t>
            </a:r>
            <a:r>
              <a:rPr b="1" dirty="0" err="1">
                <a:latin typeface="Aptos"/>
              </a:rPr>
              <a:t>coerente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dei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dati</a:t>
            </a:r>
            <a:r>
              <a:rPr dirty="0">
                <a:latin typeface="Aptos"/>
              </a:rPr>
              <a:t> </a:t>
            </a:r>
            <a:r>
              <a:rPr dirty="0" err="1">
                <a:latin typeface="Aptos"/>
              </a:rPr>
              <a:t>nel</a:t>
            </a:r>
            <a:r>
              <a:rPr dirty="0">
                <a:latin typeface="Aptos"/>
              </a:rPr>
              <a:t> dashboard finale</a:t>
            </a:r>
          </a:p>
        </p:txBody>
      </p:sp>
      <p:sp>
        <p:nvSpPr>
          <p:cNvPr id="39" name="Text Placeholder 19" descr="Title for the third step:&#10;        - Must be in bold&#10;        - Should be 2-4 words&#10;        - Must be clear and descriptive">
            <a:extLst>
              <a:ext uri="{FF2B5EF4-FFF2-40B4-BE49-F238E27FC236}">
                <a16:creationId xmlns:a16="http://schemas.microsoft.com/office/drawing/2014/main" id="{C0749711-B4C6-BA1B-F68E-FAFA41ECC526}"/>
              </a:ext>
            </a:extLst>
          </p:cNvPr>
          <p:cNvSpPr txBox="1">
            <a:spLocks/>
          </p:cNvSpPr>
          <p:nvPr/>
        </p:nvSpPr>
        <p:spPr>
          <a:xfrm>
            <a:off x="8440452" y="1359154"/>
            <a:ext cx="2372400" cy="507460"/>
          </a:xfrm>
          <a:prstGeom prst="rect">
            <a:avLst/>
          </a:prstGeom>
          <a:ln/>
        </p:spPr>
        <p:txBody>
          <a:bodyPr anchor="ctr" anchorCtr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>
                <a:latin typeface="Aptos"/>
              </a:rPr>
              <a:t>Standardizzazione formati</a:t>
            </a:r>
          </a:p>
        </p:txBody>
      </p:sp>
      <p:sp>
        <p:nvSpPr>
          <p:cNvPr id="5" name="Text Placeholder 4" descr="Text content for header box:&#10;&#10;- Must be a SINGLE clear statement between 2-5 words&#10;- Must be complete, clear, and impactful&#10;- Must contain the name of the project or the name of the client&#10;- Must be in uppercase&#10;&#10;&#10;Example: &quot;[NAME OF THE CLIENT], SOLARIA GENAI PLATFORM&quot;">
            <a:extLst>
              <a:ext uri="{FF2B5EF4-FFF2-40B4-BE49-F238E27FC236}">
                <a16:creationId xmlns:a16="http://schemas.microsoft.com/office/drawing/2014/main" id="{D57BE6B5-FA6C-FAA2-82E2-6A85B253D568}"/>
              </a:ext>
            </a:extLst>
          </p:cNvPr>
          <p:cNvSpPr txBox="1">
            <a:spLocks/>
          </p:cNvSpPr>
          <p:nvPr/>
        </p:nvSpPr>
        <p:spPr>
          <a:xfrm>
            <a:off x="419100" y="317378"/>
            <a:ext cx="11188700" cy="387291"/>
          </a:xfrm>
          <a:prstGeom prst="rect">
            <a:avLst/>
          </a:prstGeom>
          <a:ln/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>
                <a:latin typeface="Aptos"/>
              </a:rPr>
              <a:t>ANALISI PRENOTAZIONI ALBERGHIERE</a:t>
            </a:r>
          </a:p>
        </p:txBody>
      </p:sp>
      <p:sp>
        <p:nvSpPr>
          <p:cNvPr id="8" name="Title 3" descr="A clear, concise title that captures the main topic of the slide. Keep it under 10 words.">
            <a:extLst>
              <a:ext uri="{FF2B5EF4-FFF2-40B4-BE49-F238E27FC236}">
                <a16:creationId xmlns:a16="http://schemas.microsoft.com/office/drawing/2014/main" id="{669E227B-712E-D9D8-D130-E8E537F88004}"/>
              </a:ext>
            </a:extLst>
          </p:cNvPr>
          <p:cNvSpPr txBox="1">
            <a:spLocks/>
          </p:cNvSpPr>
          <p:nvPr/>
        </p:nvSpPr>
        <p:spPr>
          <a:xfrm>
            <a:off x="419100" y="685800"/>
            <a:ext cx="3428785" cy="387291"/>
          </a:xfrm>
          <a:prstGeom prst="rect">
            <a:avLst/>
          </a:prstGeom>
          <a:ln/>
        </p:spPr>
        <p:txBody>
          <a:bodyPr vert="horz" wrap="none" lIns="0" tIns="0" rIns="0" bIns="0" rtlCol="0" anchor="t" anchorCtr="0">
            <a:normAutofit/>
          </a:bodyPr>
          <a:lstStyle>
            <a:lvl1pPr>
              <a:spcBef>
                <a:spcPct val="0"/>
              </a:spcBef>
              <a:buNone/>
              <a:defRPr sz="2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2400">
                <a:latin typeface="Aptos"/>
              </a:rPr>
              <a:t>Garantire la qualità dei dati con Power Query</a:t>
            </a:r>
            <a:endParaRPr lang="it-IT" sz="2400">
              <a:latin typeface="Aptos" panose="020B00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AB2304-50ED-4226-82E4-60310B905B47}"/>
              </a:ext>
            </a:extLst>
          </p:cNvPr>
          <p:cNvGrpSpPr/>
          <p:nvPr/>
        </p:nvGrpSpPr>
        <p:grpSpPr>
          <a:xfrm>
            <a:off x="3328427" y="1333519"/>
            <a:ext cx="540000" cy="540000"/>
            <a:chOff x="3328427" y="1358013"/>
            <a:chExt cx="540000" cy="5400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0B718FE-FDEF-D524-2AB8-4F8BB81DD3A3}"/>
                </a:ext>
              </a:extLst>
            </p:cNvPr>
            <p:cNvSpPr/>
            <p:nvPr/>
          </p:nvSpPr>
          <p:spPr bwMode="gray">
            <a:xfrm>
              <a:off x="3328427" y="1358013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it-IT" sz="1600" b="1">
                <a:solidFill>
                  <a:schemeClr val="bg1"/>
                </a:solidFill>
              </a:endParaRPr>
            </a:p>
          </p:txBody>
        </p:sp>
        <p:pic>
          <p:nvPicPr>
            <p:cNvPr id="40" name="Picture 39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0027" y="1423412"/>
              <a:ext cx="316800" cy="380856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F037ABE-67D2-40EA-B79F-259918401F6E}"/>
              </a:ext>
            </a:extLst>
          </p:cNvPr>
          <p:cNvGrpSpPr/>
          <p:nvPr/>
        </p:nvGrpSpPr>
        <p:grpSpPr>
          <a:xfrm>
            <a:off x="7134693" y="1333519"/>
            <a:ext cx="540000" cy="540000"/>
            <a:chOff x="7134693" y="1358013"/>
            <a:chExt cx="540000" cy="540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CEFB8DC-202D-9E01-023C-28C10725E0F9}"/>
                </a:ext>
              </a:extLst>
            </p:cNvPr>
            <p:cNvSpPr/>
            <p:nvPr/>
          </p:nvSpPr>
          <p:spPr bwMode="gray">
            <a:xfrm>
              <a:off x="7134693" y="1358013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it-IT" sz="1600" b="1">
                <a:solidFill>
                  <a:schemeClr val="bg1"/>
                </a:solidFill>
              </a:endParaRPr>
            </a:p>
          </p:txBody>
        </p:sp>
        <p:pic>
          <p:nvPicPr>
            <p:cNvPr id="41" name="Picture 40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33469" y="1423412"/>
              <a:ext cx="316800" cy="380856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E4FDE39-0959-48A0-B505-898C93679CE2}"/>
              </a:ext>
            </a:extLst>
          </p:cNvPr>
          <p:cNvGrpSpPr/>
          <p:nvPr/>
        </p:nvGrpSpPr>
        <p:grpSpPr>
          <a:xfrm>
            <a:off x="10862548" y="1333519"/>
            <a:ext cx="540000" cy="540000"/>
            <a:chOff x="10862548" y="1309026"/>
            <a:chExt cx="540000" cy="540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C539137-6678-5AA8-BC11-FB902CE97CB6}"/>
                </a:ext>
              </a:extLst>
            </p:cNvPr>
            <p:cNvSpPr/>
            <p:nvPr/>
          </p:nvSpPr>
          <p:spPr bwMode="gray">
            <a:xfrm>
              <a:off x="10862548" y="1309026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it-IT" sz="1600" b="1">
                <a:solidFill>
                  <a:schemeClr val="bg1"/>
                </a:solidFill>
              </a:endParaRPr>
            </a:p>
          </p:txBody>
        </p:sp>
        <p:pic>
          <p:nvPicPr>
            <p:cNvPr id="42" name="Picture 41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71575" y="1408527"/>
              <a:ext cx="316800" cy="3808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 descr="Title for the first box (top left):&#10;        - Must be in green color&#10;        - Should be 2-4 words&#10;        - Must be clear and descriptive">
            <a:extLst>
              <a:ext uri="{FF2B5EF4-FFF2-40B4-BE49-F238E27FC236}">
                <a16:creationId xmlns:a16="http://schemas.microsoft.com/office/drawing/2014/main" id="{0D526AC2-639D-73FA-9E16-52CF80A0F8E1}"/>
              </a:ext>
            </a:extLst>
          </p:cNvPr>
          <p:cNvSpPr txBox="1">
            <a:spLocks/>
          </p:cNvSpPr>
          <p:nvPr/>
        </p:nvSpPr>
        <p:spPr>
          <a:xfrm>
            <a:off x="1171348" y="1806735"/>
            <a:ext cx="4644000" cy="260473"/>
          </a:xfrm>
          <a:prstGeom prst="rect">
            <a:avLst/>
          </a:prstGeom>
          <a:ln/>
        </p:spPr>
        <p:txBody>
          <a:bodyPr vert="horz" lIns="0" tIns="0" rIns="0" bIns="0" rtlCol="0">
            <a:normAutofit/>
          </a:bodyPr>
          <a:lstStyle>
            <a:lvl1pPr indent="0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1">
                <a:solidFill>
                  <a:schemeClr val="accent1"/>
                </a:solidFill>
                <a:latin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>
                <a:latin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lang="en-US" sz="1300">
                <a:latin typeface="Open Sans" panose="020B0606030504020204" pitchFamily="34" charset="0"/>
                <a:cs typeface="Open Sans" panose="020B0606030504020204" pitchFamily="34" charset="0"/>
              </a:defRPr>
            </a:lvl3pPr>
            <a:lvl4pPr marL="176400" indent="-1764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baseline="0">
                <a:latin typeface="Open Sans" panose="020B0606030504020204" pitchFamily="34" charset="0"/>
                <a:cs typeface="Open Sans" panose="020B0606030504020204" pitchFamily="34" charset="0"/>
              </a:defRPr>
            </a:lvl4pPr>
            <a:lvl5pPr marL="356400" indent="-176400" defTabSz="798513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baseline="0">
                <a:latin typeface="Open Sans" panose="020B0606030504020204" pitchFamily="34" charset="0"/>
                <a:cs typeface="Open Sans" panose="020B0606030504020204" pitchFamily="34" charset="0"/>
              </a:defRPr>
            </a:lvl5pPr>
            <a:lvl6pPr marL="3564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6pPr>
            <a:lvl7pPr marL="3564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/>
            </a:lvl7pPr>
            <a:lvl8pPr marL="3564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8pPr>
            <a:lvl9pPr marL="3564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9pPr>
          </a:lstStyle>
          <a:p>
            <a:r>
              <a:rPr sz="1400" dirty="0">
                <a:solidFill>
                  <a:srgbClr val="012169"/>
                </a:solidFill>
                <a:latin typeface="Aptos"/>
              </a:rPr>
              <a:t>TREND DELLE PRENOTAZIONI</a:t>
            </a:r>
          </a:p>
        </p:txBody>
      </p:sp>
      <p:sp>
        <p:nvSpPr>
          <p:cNvPr id="4" name="Text Placeholder 22" descr="Title for the second box (top right):&#10;        - Must be in green color&#10;        - Should be 2-4 words&#10;        - Must be clear and descriptive&#10;">
            <a:extLst>
              <a:ext uri="{FF2B5EF4-FFF2-40B4-BE49-F238E27FC236}">
                <a16:creationId xmlns:a16="http://schemas.microsoft.com/office/drawing/2014/main" id="{FFD8B7E8-3F23-4AF4-5BC9-2AB6F379573E}"/>
              </a:ext>
            </a:extLst>
          </p:cNvPr>
          <p:cNvSpPr txBox="1">
            <a:spLocks/>
          </p:cNvSpPr>
          <p:nvPr/>
        </p:nvSpPr>
        <p:spPr>
          <a:xfrm>
            <a:off x="6889308" y="1806735"/>
            <a:ext cx="4644000" cy="260473"/>
          </a:xfrm>
          <a:prstGeom prst="rect">
            <a:avLst/>
          </a:prstGeom>
          <a:ln/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indent="0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400" b="1">
                <a:solidFill>
                  <a:srgbClr val="012169"/>
                </a:solidFill>
                <a:latin typeface="Aptos"/>
                <a:cs typeface="Open Sans" panose="020B0606030504020204" pitchFamily="34" charset="0"/>
              </a:defRPr>
            </a:lvl1pPr>
            <a:lvl2pPr marL="0" indent="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sz="1300" b="1">
                <a:latin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300">
                <a:latin typeface="Open Sans" panose="020B0606030504020204" pitchFamily="34" charset="0"/>
                <a:cs typeface="Open Sans" panose="020B0606030504020204" pitchFamily="34" charset="0"/>
              </a:defRPr>
            </a:lvl3pPr>
            <a:lvl4pPr marL="176400" indent="-1764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300" baseline="0">
                <a:latin typeface="Open Sans" panose="020B0606030504020204" pitchFamily="34" charset="0"/>
                <a:cs typeface="Open Sans" panose="020B0606030504020204" pitchFamily="34" charset="0"/>
              </a:defRPr>
            </a:lvl4pPr>
            <a:lvl5pPr marL="356400" indent="-176400" defTabSz="798513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sz="1300" baseline="0">
                <a:latin typeface="Open Sans" panose="020B0606030504020204" pitchFamily="34" charset="0"/>
                <a:cs typeface="Open Sans" panose="020B0606030504020204" pitchFamily="34" charset="0"/>
              </a:defRPr>
            </a:lvl5pPr>
            <a:lvl6pPr marL="3564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6pPr>
            <a:lvl7pPr marL="3564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/>
            </a:lvl7pPr>
            <a:lvl8pPr marL="3564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8pPr>
            <a:lvl9pPr marL="3564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9pPr>
          </a:lstStyle>
          <a:p>
            <a:r>
              <a:rPr dirty="0"/>
              <a:t>SEGMENTAZIONE DELLA CLIENTELA</a:t>
            </a:r>
          </a:p>
        </p:txBody>
      </p:sp>
      <p:sp>
        <p:nvSpPr>
          <p:cNvPr id="5" name="Text Placeholder 23" descr="Title for the third box (bottom left):&#10;        - Must be in green color&#10;        - Should be 2-4 words&#10;        - Must be clear and descriptive">
            <a:extLst>
              <a:ext uri="{FF2B5EF4-FFF2-40B4-BE49-F238E27FC236}">
                <a16:creationId xmlns:a16="http://schemas.microsoft.com/office/drawing/2014/main" id="{DDF9D5C5-7CD2-71CF-6210-F98DB0697632}"/>
              </a:ext>
            </a:extLst>
          </p:cNvPr>
          <p:cNvSpPr txBox="1">
            <a:spLocks/>
          </p:cNvSpPr>
          <p:nvPr/>
        </p:nvSpPr>
        <p:spPr>
          <a:xfrm>
            <a:off x="1171348" y="4273720"/>
            <a:ext cx="4644000" cy="260473"/>
          </a:xfrm>
          <a:prstGeom prst="rect">
            <a:avLst/>
          </a:prstGeom>
          <a:ln/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indent="0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400" b="1">
                <a:solidFill>
                  <a:srgbClr val="012169"/>
                </a:solidFill>
                <a:latin typeface="Aptos"/>
                <a:cs typeface="Open Sans" panose="020B0606030504020204" pitchFamily="34" charset="0"/>
              </a:defRPr>
            </a:lvl1pPr>
            <a:lvl2pPr marL="0" indent="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sz="1300" b="1">
                <a:latin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300">
                <a:latin typeface="Open Sans" panose="020B0606030504020204" pitchFamily="34" charset="0"/>
                <a:cs typeface="Open Sans" panose="020B0606030504020204" pitchFamily="34" charset="0"/>
              </a:defRPr>
            </a:lvl3pPr>
            <a:lvl4pPr marL="176400" indent="-1764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300" baseline="0">
                <a:latin typeface="Open Sans" panose="020B0606030504020204" pitchFamily="34" charset="0"/>
                <a:cs typeface="Open Sans" panose="020B0606030504020204" pitchFamily="34" charset="0"/>
              </a:defRPr>
            </a:lvl4pPr>
            <a:lvl5pPr marL="356400" indent="-176400" defTabSz="798513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sz="1300" baseline="0">
                <a:latin typeface="Open Sans" panose="020B0606030504020204" pitchFamily="34" charset="0"/>
                <a:cs typeface="Open Sans" panose="020B0606030504020204" pitchFamily="34" charset="0"/>
              </a:defRPr>
            </a:lvl5pPr>
            <a:lvl6pPr marL="3564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6pPr>
            <a:lvl7pPr marL="3564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/>
            </a:lvl7pPr>
            <a:lvl8pPr marL="3564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8pPr>
            <a:lvl9pPr marL="3564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9pPr>
          </a:lstStyle>
          <a:p>
            <a:r>
              <a:rPr dirty="0"/>
              <a:t>IMPORTANZA DELLE FEATURE</a:t>
            </a:r>
          </a:p>
        </p:txBody>
      </p:sp>
      <p:sp>
        <p:nvSpPr>
          <p:cNvPr id="8" name="Text Placeholder 24" descr="Title for the fourth box (bottom right):&#10;        - Must be in green color&#10;        - Should be 2-4 words&#10;        - Must be clear and descriptive">
            <a:extLst>
              <a:ext uri="{FF2B5EF4-FFF2-40B4-BE49-F238E27FC236}">
                <a16:creationId xmlns:a16="http://schemas.microsoft.com/office/drawing/2014/main" id="{D1C0B2E3-0D51-7A56-E53A-1567988DB98B}"/>
              </a:ext>
            </a:extLst>
          </p:cNvPr>
          <p:cNvSpPr txBox="1">
            <a:spLocks/>
          </p:cNvSpPr>
          <p:nvPr/>
        </p:nvSpPr>
        <p:spPr>
          <a:xfrm>
            <a:off x="6889308" y="4273720"/>
            <a:ext cx="4644000" cy="260473"/>
          </a:xfrm>
          <a:prstGeom prst="rect">
            <a:avLst/>
          </a:prstGeom>
          <a:ln/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indent="0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400" b="1">
                <a:solidFill>
                  <a:srgbClr val="012169"/>
                </a:solidFill>
                <a:latin typeface="Aptos"/>
                <a:cs typeface="Open Sans" panose="020B0606030504020204" pitchFamily="34" charset="0"/>
              </a:defRPr>
            </a:lvl1pPr>
            <a:lvl2pPr marL="0" indent="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sz="1300" b="1">
                <a:latin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300">
                <a:latin typeface="Open Sans" panose="020B0606030504020204" pitchFamily="34" charset="0"/>
                <a:cs typeface="Open Sans" panose="020B0606030504020204" pitchFamily="34" charset="0"/>
              </a:defRPr>
            </a:lvl3pPr>
            <a:lvl4pPr marL="176400" indent="-1764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300" baseline="0">
                <a:latin typeface="Open Sans" panose="020B0606030504020204" pitchFamily="34" charset="0"/>
                <a:cs typeface="Open Sans" panose="020B0606030504020204" pitchFamily="34" charset="0"/>
              </a:defRPr>
            </a:lvl4pPr>
            <a:lvl5pPr marL="356400" indent="-176400" defTabSz="798513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sz="1300" baseline="0">
                <a:latin typeface="Open Sans" panose="020B0606030504020204" pitchFamily="34" charset="0"/>
                <a:cs typeface="Open Sans" panose="020B0606030504020204" pitchFamily="34" charset="0"/>
              </a:defRPr>
            </a:lvl5pPr>
            <a:lvl6pPr marL="3564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6pPr>
            <a:lvl7pPr marL="3564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/>
            </a:lvl7pPr>
            <a:lvl8pPr marL="3564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8pPr>
            <a:lvl9pPr marL="3564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9pPr>
          </a:lstStyle>
          <a:p>
            <a:r>
              <a:rPr dirty="0"/>
              <a:t>MODELLO PREDITTIVO</a:t>
            </a:r>
          </a:p>
        </p:txBody>
      </p:sp>
      <p:sp>
        <p:nvSpPr>
          <p:cNvPr id="9" name="Text Placeholder 27" descr="Text content for first box:&#10;        - Must be a SINGLE clear statement between 50-60 words&#10;        - Must highlight key concepts in **bold** (2-3 terms maximum)&#10;        - Must be complete, clear, and impactful&#10;        &#10;        Example: &quot;Implementing **automated workflows** enables streamlined processing of customer requests, reducing manual intervention and improving **operational efficiency** significantly.">
            <a:extLst>
              <a:ext uri="{FF2B5EF4-FFF2-40B4-BE49-F238E27FC236}">
                <a16:creationId xmlns:a16="http://schemas.microsoft.com/office/drawing/2014/main" id="{C563E69D-5F76-2DEF-402F-289C65CC662A}"/>
              </a:ext>
            </a:extLst>
          </p:cNvPr>
          <p:cNvSpPr txBox="1">
            <a:spLocks/>
          </p:cNvSpPr>
          <p:nvPr/>
        </p:nvSpPr>
        <p:spPr>
          <a:xfrm>
            <a:off x="1171348" y="2214163"/>
            <a:ext cx="4680000" cy="1636712"/>
          </a:xfrm>
          <a:prstGeom prst="rect">
            <a:avLst/>
          </a:prstGeom>
          <a:ln/>
        </p:spPr>
        <p:txBody>
          <a:bodyPr vert="horz" lIns="0" tIns="0" rIns="0" bIns="0" rtlCol="0">
            <a:normAutofit/>
          </a:bodyPr>
          <a:lstStyle>
            <a:lvl1pPr indent="0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>
                <a:latin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dirty="0" smtClean="0">
                <a:latin typeface="Open Sans" panose="020B0606030504020204" pitchFamily="34" charset="0"/>
                <a:cs typeface="Open Sans" panose="020B0606030504020204" pitchFamily="34" charset="0"/>
              </a:defRPr>
            </a:lvl2pPr>
            <a:lvl3pPr marL="176400" indent="-1764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dirty="0" smtClean="0">
                <a:latin typeface="Open Sans" panose="020B0606030504020204" pitchFamily="34" charset="0"/>
                <a:cs typeface="Open Sans" panose="020B0606030504020204" pitchFamily="34" charset="0"/>
              </a:defRPr>
            </a:lvl3pPr>
            <a:lvl4pPr marL="356400" indent="-1764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baseline="0" dirty="0" smtClean="0">
                <a:latin typeface="Open Sans" panose="020B0606030504020204" pitchFamily="34" charset="0"/>
                <a:cs typeface="Open Sans" panose="020B0606030504020204" pitchFamily="34" charset="0"/>
              </a:defRPr>
            </a:lvl4pPr>
            <a:lvl5pPr marL="532800" indent="-176400" defTabSz="798513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baseline="0" dirty="0" smtClean="0">
                <a:latin typeface="Open Sans" panose="020B0606030504020204" pitchFamily="34" charset="0"/>
                <a:cs typeface="Open Sans" panose="020B0606030504020204" pitchFamily="34" charset="0"/>
              </a:defRPr>
            </a:lvl5pPr>
            <a:lvl6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6pPr>
            <a:lvl7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/>
            </a:lvl7pPr>
            <a:lvl8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8pPr>
            <a:lvl9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9pPr>
          </a:lstStyle>
          <a:p>
            <a:r>
              <a:rPr sz="1200">
                <a:latin typeface="Aptos"/>
              </a:rPr>
              <a:t>L'analisi ha rivelato picchi di prenotazione nei mesi estivi e una correlazione diretta tra tempi di attesa più lunghi (lead time) e tassi di cancellazione più elevati. Questo suggerisce la necessità di strategie mirate per gestire le prenotazioni a lungo termine e ottimizzare l'occupazione durante i </a:t>
            </a:r>
            <a:r>
              <a:rPr sz="1200" b="1">
                <a:latin typeface="Aptos"/>
              </a:rPr>
              <a:t>periodi di punta</a:t>
            </a:r>
            <a:r>
              <a:rPr sz="1200">
                <a:latin typeface="Aptos"/>
              </a:rPr>
              <a:t>.</a:t>
            </a:r>
          </a:p>
        </p:txBody>
      </p:sp>
      <p:sp>
        <p:nvSpPr>
          <p:cNvPr id="10" name="Text Placeholder 28" descr="Text content for second box:&#10;        - Must be a SINGLE clear statement between 50-60 words&#10;        - Must highlight key concepts in **bold** (2-3 terms maximum)&#10;        - Must be complete, clear, and impactful&#10;        &#10;        Example: &quot;Our enhanced **data analytics platform** provides real-time insights into customer behavior, enabling proactive responses to **market trends**.">
            <a:extLst>
              <a:ext uri="{FF2B5EF4-FFF2-40B4-BE49-F238E27FC236}">
                <a16:creationId xmlns:a16="http://schemas.microsoft.com/office/drawing/2014/main" id="{E6A7B9D3-6749-AFDC-CCCC-D9F2C7BA7699}"/>
              </a:ext>
            </a:extLst>
          </p:cNvPr>
          <p:cNvSpPr txBox="1">
            <a:spLocks/>
          </p:cNvSpPr>
          <p:nvPr/>
        </p:nvSpPr>
        <p:spPr>
          <a:xfrm>
            <a:off x="6889308" y="2214163"/>
            <a:ext cx="4680000" cy="1636712"/>
          </a:xfrm>
          <a:prstGeom prst="rect">
            <a:avLst/>
          </a:prstGeom>
          <a:ln/>
        </p:spPr>
        <p:txBody>
          <a:bodyPr vert="horz" lIns="0" tIns="0" rIns="0" bIns="0" rtlCol="0">
            <a:normAutofit/>
          </a:bodyPr>
          <a:lstStyle>
            <a:lvl1pPr indent="0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>
                <a:latin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dirty="0" smtClean="0">
                <a:latin typeface="Open Sans" panose="020B0606030504020204" pitchFamily="34" charset="0"/>
                <a:cs typeface="Open Sans" panose="020B0606030504020204" pitchFamily="34" charset="0"/>
              </a:defRPr>
            </a:lvl2pPr>
            <a:lvl3pPr marL="176400" indent="-1764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dirty="0" smtClean="0">
                <a:latin typeface="Open Sans" panose="020B0606030504020204" pitchFamily="34" charset="0"/>
                <a:cs typeface="Open Sans" panose="020B0606030504020204" pitchFamily="34" charset="0"/>
              </a:defRPr>
            </a:lvl3pPr>
            <a:lvl4pPr marL="356400" indent="-1764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baseline="0" dirty="0" smtClean="0">
                <a:latin typeface="Open Sans" panose="020B0606030504020204" pitchFamily="34" charset="0"/>
                <a:cs typeface="Open Sans" panose="020B0606030504020204" pitchFamily="34" charset="0"/>
              </a:defRPr>
            </a:lvl4pPr>
            <a:lvl5pPr marL="532800" indent="-176400" defTabSz="798513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baseline="0" dirty="0" smtClean="0">
                <a:latin typeface="Open Sans" panose="020B0606030504020204" pitchFamily="34" charset="0"/>
                <a:cs typeface="Open Sans" panose="020B0606030504020204" pitchFamily="34" charset="0"/>
              </a:defRPr>
            </a:lvl5pPr>
            <a:lvl6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6pPr>
            <a:lvl7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/>
            </a:lvl7pPr>
            <a:lvl8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8pPr>
            <a:lvl9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9pPr>
          </a:lstStyle>
          <a:p>
            <a:r>
              <a:rPr sz="1200">
                <a:latin typeface="Aptos"/>
              </a:rPr>
              <a:t>La clientela è stata segmentata in gruppi distinti per personalizzare l'offerta. Abbiamo identificato le </a:t>
            </a:r>
            <a:r>
              <a:rPr sz="1200" b="1">
                <a:latin typeface="Aptos"/>
              </a:rPr>
              <a:t>'Famiglie con bambini'</a:t>
            </a:r>
            <a:r>
              <a:rPr sz="1200">
                <a:latin typeface="Aptos"/>
              </a:rPr>
              <a:t> come target primario per i resort hotel e i </a:t>
            </a:r>
            <a:r>
              <a:rPr sz="1200" b="1">
                <a:latin typeface="Aptos"/>
              </a:rPr>
              <a:t>'Viaggiatori d'affari'</a:t>
            </a:r>
            <a:r>
              <a:rPr sz="1200">
                <a:latin typeface="Aptos"/>
              </a:rPr>
              <a:t> per gli hotel in città, permettendo campagne di marketing più efficaci e un miglioramento dell'esperienza del cliente.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E9F601-7F66-8886-D354-60CD42DFD46A}"/>
              </a:ext>
            </a:extLst>
          </p:cNvPr>
          <p:cNvCxnSpPr>
            <a:cxnSpLocks/>
          </p:cNvCxnSpPr>
          <p:nvPr/>
        </p:nvCxnSpPr>
        <p:spPr>
          <a:xfrm flipH="1" flipV="1">
            <a:off x="1040258" y="1633712"/>
            <a:ext cx="489600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8572F18-1681-CA35-7440-E0137A797289}"/>
              </a:ext>
            </a:extLst>
          </p:cNvPr>
          <p:cNvCxnSpPr>
            <a:cxnSpLocks/>
          </p:cNvCxnSpPr>
          <p:nvPr/>
        </p:nvCxnSpPr>
        <p:spPr>
          <a:xfrm flipH="1" flipV="1">
            <a:off x="1040258" y="4115957"/>
            <a:ext cx="489600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1473C10-A269-5866-244B-9D834B6AD7C4}"/>
              </a:ext>
            </a:extLst>
          </p:cNvPr>
          <p:cNvCxnSpPr>
            <a:cxnSpLocks/>
          </p:cNvCxnSpPr>
          <p:nvPr/>
        </p:nvCxnSpPr>
        <p:spPr>
          <a:xfrm flipH="1" flipV="1">
            <a:off x="6889308" y="1633712"/>
            <a:ext cx="482400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AC8D937-EB24-F30E-A675-871C4C004785}"/>
              </a:ext>
            </a:extLst>
          </p:cNvPr>
          <p:cNvCxnSpPr>
            <a:cxnSpLocks/>
          </p:cNvCxnSpPr>
          <p:nvPr/>
        </p:nvCxnSpPr>
        <p:spPr>
          <a:xfrm flipH="1" flipV="1">
            <a:off x="6889308" y="4115957"/>
            <a:ext cx="482400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29" descr="Text content for third box:&#10;        - Must be a SINGLE clear statement between 50-60 words&#10;        - Must highlight key concepts in **bold** (2-3 terms maximum)&#10;        - Must be complete, clear, and impactful&#10;        &#10;        Example: &quot;Advanced **security protocols** protect sensitive data throughout the entire process, ensuring complete **compliance** with industry regulations.">
            <a:extLst>
              <a:ext uri="{FF2B5EF4-FFF2-40B4-BE49-F238E27FC236}">
                <a16:creationId xmlns:a16="http://schemas.microsoft.com/office/drawing/2014/main" id="{9BA4AE07-2224-6C10-0F7D-677E9F4FC267}"/>
              </a:ext>
            </a:extLst>
          </p:cNvPr>
          <p:cNvSpPr txBox="1">
            <a:spLocks/>
          </p:cNvSpPr>
          <p:nvPr/>
        </p:nvSpPr>
        <p:spPr>
          <a:xfrm>
            <a:off x="1171348" y="4632701"/>
            <a:ext cx="4680000" cy="1636712"/>
          </a:xfrm>
          <a:prstGeom prst="rect">
            <a:avLst/>
          </a:prstGeom>
          <a:ln/>
        </p:spPr>
        <p:txBody>
          <a:bodyPr vert="horz" lIns="0" tIns="0" rIns="0" bIns="0" rtlCol="0">
            <a:normAutofit/>
          </a:bodyPr>
          <a:lstStyle>
            <a:lvl1pPr indent="0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>
                <a:latin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dirty="0" smtClean="0">
                <a:latin typeface="Open Sans" panose="020B0606030504020204" pitchFamily="34" charset="0"/>
                <a:cs typeface="Open Sans" panose="020B0606030504020204" pitchFamily="34" charset="0"/>
              </a:defRPr>
            </a:lvl2pPr>
            <a:lvl3pPr marL="176400" indent="-1764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dirty="0" smtClean="0">
                <a:latin typeface="Open Sans" panose="020B0606030504020204" pitchFamily="34" charset="0"/>
                <a:cs typeface="Open Sans" panose="020B0606030504020204" pitchFamily="34" charset="0"/>
              </a:defRPr>
            </a:lvl3pPr>
            <a:lvl4pPr marL="356400" indent="-1764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baseline="0" dirty="0" smtClean="0">
                <a:latin typeface="Open Sans" panose="020B0606030504020204" pitchFamily="34" charset="0"/>
                <a:cs typeface="Open Sans" panose="020B0606030504020204" pitchFamily="34" charset="0"/>
              </a:defRPr>
            </a:lvl4pPr>
            <a:lvl5pPr marL="532800" indent="-176400" defTabSz="798513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baseline="0" dirty="0" smtClean="0">
                <a:latin typeface="Open Sans" panose="020B0606030504020204" pitchFamily="34" charset="0"/>
                <a:cs typeface="Open Sans" panose="020B0606030504020204" pitchFamily="34" charset="0"/>
              </a:defRPr>
            </a:lvl5pPr>
            <a:lvl6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6pPr>
            <a:lvl7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/>
            </a:lvl7pPr>
            <a:lvl8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8pPr>
            <a:lvl9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9pPr>
          </a:lstStyle>
          <a:p>
            <a:r>
              <a:rPr sz="1200">
                <a:latin typeface="Aptos"/>
              </a:rPr>
              <a:t>Abbiamo identificato i predittori più significativi per le cancellazioni. Le variabili chiave sono il </a:t>
            </a:r>
            <a:r>
              <a:rPr sz="1200" b="1">
                <a:latin typeface="Aptos"/>
              </a:rPr>
              <a:t>'lead_time'</a:t>
            </a:r>
            <a:r>
              <a:rPr sz="1200">
                <a:latin typeface="Aptos"/>
              </a:rPr>
              <a:t>, il segmento di mercato (in particolare </a:t>
            </a:r>
            <a:r>
              <a:rPr sz="1200" b="1">
                <a:latin typeface="Aptos"/>
              </a:rPr>
              <a:t>'Online TA'</a:t>
            </a:r>
            <a:r>
              <a:rPr sz="1200">
                <a:latin typeface="Aptos"/>
              </a:rPr>
              <a:t>) e il tipo di deposito ('deposit_type'). Questi fattori sono cruciali per comprendere e anticipare il comportamento dei clienti e mitigare i rischi di cancellazione.</a:t>
            </a:r>
          </a:p>
        </p:txBody>
      </p:sp>
      <p:sp>
        <p:nvSpPr>
          <p:cNvPr id="32" name="Text Placeholder 30" descr="Text content for fourth box:&#10;        - Must be a SINGLE clear statement between 50-60 words&#10;        - Must highlight key concepts in **bold** (2-3 terms maximum)&#10;        - Must be complete, clear, and impactful&#10;        &#10;        Example: &quot;Integrated **collaboration tools** facilitate seamless communication between teams, leading to improved **project delivery** and stakeholder satisfaction.">
            <a:extLst>
              <a:ext uri="{FF2B5EF4-FFF2-40B4-BE49-F238E27FC236}">
                <a16:creationId xmlns:a16="http://schemas.microsoft.com/office/drawing/2014/main" id="{D483A587-89E1-95DF-8755-DBFA5AA4D4C1}"/>
              </a:ext>
            </a:extLst>
          </p:cNvPr>
          <p:cNvSpPr txBox="1">
            <a:spLocks/>
          </p:cNvSpPr>
          <p:nvPr/>
        </p:nvSpPr>
        <p:spPr>
          <a:xfrm>
            <a:off x="6972433" y="4632701"/>
            <a:ext cx="4680000" cy="1636712"/>
          </a:xfrm>
          <a:prstGeom prst="rect">
            <a:avLst/>
          </a:prstGeom>
          <a:ln/>
        </p:spPr>
        <p:txBody>
          <a:bodyPr vert="horz" lIns="0" tIns="0" rIns="0" bIns="0" rtlCol="0">
            <a:normAutofit/>
          </a:bodyPr>
          <a:lstStyle>
            <a:lvl1pPr indent="0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>
                <a:latin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dirty="0" smtClean="0">
                <a:latin typeface="Open Sans" panose="020B0606030504020204" pitchFamily="34" charset="0"/>
                <a:cs typeface="Open Sans" panose="020B0606030504020204" pitchFamily="34" charset="0"/>
              </a:defRPr>
            </a:lvl2pPr>
            <a:lvl3pPr marL="176400" indent="-1764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dirty="0" smtClean="0">
                <a:latin typeface="Open Sans" panose="020B0606030504020204" pitchFamily="34" charset="0"/>
                <a:cs typeface="Open Sans" panose="020B0606030504020204" pitchFamily="34" charset="0"/>
              </a:defRPr>
            </a:lvl3pPr>
            <a:lvl4pPr marL="356400" indent="-1764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baseline="0" dirty="0" smtClean="0">
                <a:latin typeface="Open Sans" panose="020B0606030504020204" pitchFamily="34" charset="0"/>
                <a:cs typeface="Open Sans" panose="020B0606030504020204" pitchFamily="34" charset="0"/>
              </a:defRPr>
            </a:lvl4pPr>
            <a:lvl5pPr marL="532800" indent="-176400" defTabSz="798513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baseline="0" dirty="0" smtClean="0">
                <a:latin typeface="Open Sans" panose="020B0606030504020204" pitchFamily="34" charset="0"/>
                <a:cs typeface="Open Sans" panose="020B0606030504020204" pitchFamily="34" charset="0"/>
              </a:defRPr>
            </a:lvl5pPr>
            <a:lvl6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6pPr>
            <a:lvl7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/>
            </a:lvl7pPr>
            <a:lvl8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8pPr>
            <a:lvl9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9pPr>
          </a:lstStyle>
          <a:p>
            <a:r>
              <a:rPr sz="1200" dirty="0">
                <a:latin typeface="Aptos"/>
              </a:rPr>
              <a:t>È </a:t>
            </a:r>
            <a:r>
              <a:rPr sz="1200" dirty="0" err="1">
                <a:latin typeface="Aptos"/>
              </a:rPr>
              <a:t>stato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sviluppato</a:t>
            </a:r>
            <a:r>
              <a:rPr sz="1200" dirty="0">
                <a:latin typeface="Aptos"/>
              </a:rPr>
              <a:t> un </a:t>
            </a:r>
            <a:r>
              <a:rPr sz="1200" dirty="0" err="1">
                <a:latin typeface="Aptos"/>
              </a:rPr>
              <a:t>modello</a:t>
            </a:r>
            <a:r>
              <a:rPr sz="1200" dirty="0">
                <a:latin typeface="Aptos"/>
              </a:rPr>
              <a:t> di machine learning per </a:t>
            </a:r>
            <a:r>
              <a:rPr sz="1200" dirty="0" err="1">
                <a:latin typeface="Aptos"/>
              </a:rPr>
              <a:t>prevedere</a:t>
            </a:r>
            <a:r>
              <a:rPr sz="1200" dirty="0">
                <a:latin typeface="Aptos"/>
              </a:rPr>
              <a:t> le </a:t>
            </a:r>
            <a:r>
              <a:rPr sz="1200" dirty="0" err="1">
                <a:latin typeface="Aptos"/>
              </a:rPr>
              <a:t>cancellazioni</a:t>
            </a:r>
            <a:r>
              <a:rPr sz="1200" dirty="0">
                <a:latin typeface="Aptos"/>
              </a:rPr>
              <a:t> con </a:t>
            </a:r>
            <a:r>
              <a:rPr sz="1200" dirty="0" err="1">
                <a:latin typeface="Aptos"/>
              </a:rPr>
              <a:t>un'</a:t>
            </a:r>
            <a:r>
              <a:rPr sz="1200" b="1" dirty="0" err="1">
                <a:latin typeface="Aptos"/>
              </a:rPr>
              <a:t>accuratezza</a:t>
            </a:r>
            <a:r>
              <a:rPr sz="1200" b="1" dirty="0">
                <a:latin typeface="Aptos"/>
              </a:rPr>
              <a:t> dell'85%</a:t>
            </a:r>
            <a:r>
              <a:rPr sz="1200" dirty="0">
                <a:latin typeface="Aptos"/>
              </a:rPr>
              <a:t>. </a:t>
            </a:r>
            <a:r>
              <a:rPr sz="1200" dirty="0" err="1">
                <a:latin typeface="Aptos"/>
              </a:rPr>
              <a:t>Questo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strumento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fornisce</a:t>
            </a:r>
            <a:r>
              <a:rPr sz="1200" dirty="0">
                <a:latin typeface="Aptos"/>
              </a:rPr>
              <a:t> una </a:t>
            </a:r>
            <a:r>
              <a:rPr sz="1200" dirty="0" err="1">
                <a:latin typeface="Aptos"/>
              </a:rPr>
              <a:t>capacità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previsionale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fondamentale</a:t>
            </a:r>
            <a:r>
              <a:rPr sz="1200" dirty="0">
                <a:latin typeface="Aptos"/>
              </a:rPr>
              <a:t>, </a:t>
            </a:r>
            <a:r>
              <a:rPr sz="1200" dirty="0" err="1">
                <a:latin typeface="Aptos"/>
              </a:rPr>
              <a:t>consentendo</a:t>
            </a:r>
            <a:r>
              <a:rPr sz="1200" dirty="0">
                <a:latin typeface="Aptos"/>
              </a:rPr>
              <a:t> una </a:t>
            </a:r>
            <a:r>
              <a:rPr sz="1200" b="1" dirty="0" err="1">
                <a:latin typeface="Aptos"/>
              </a:rPr>
              <a:t>gestione</a:t>
            </a:r>
            <a:r>
              <a:rPr sz="1200" b="1" dirty="0">
                <a:latin typeface="Aptos"/>
              </a:rPr>
              <a:t> </a:t>
            </a:r>
            <a:r>
              <a:rPr sz="1200" b="1" dirty="0" err="1">
                <a:latin typeface="Aptos"/>
              </a:rPr>
              <a:t>proattiva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delle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prenotazioni</a:t>
            </a:r>
            <a:r>
              <a:rPr sz="1200" dirty="0">
                <a:latin typeface="Aptos"/>
              </a:rPr>
              <a:t> a </a:t>
            </a:r>
            <a:r>
              <a:rPr sz="1200" dirty="0" err="1">
                <a:latin typeface="Aptos"/>
              </a:rPr>
              <a:t>rischio</a:t>
            </a:r>
            <a:r>
              <a:rPr sz="1200" dirty="0">
                <a:latin typeface="Aptos"/>
              </a:rPr>
              <a:t> e </a:t>
            </a:r>
            <a:r>
              <a:rPr sz="1200" dirty="0" err="1">
                <a:latin typeface="Aptos"/>
              </a:rPr>
              <a:t>l'implementazione</a:t>
            </a:r>
            <a:r>
              <a:rPr sz="1200" dirty="0">
                <a:latin typeface="Aptos"/>
              </a:rPr>
              <a:t> di </a:t>
            </a:r>
            <a:r>
              <a:rPr sz="1200" dirty="0" err="1">
                <a:latin typeface="Aptos"/>
              </a:rPr>
              <a:t>strategie</a:t>
            </a:r>
            <a:r>
              <a:rPr sz="1200" dirty="0">
                <a:latin typeface="Aptos"/>
              </a:rPr>
              <a:t> di </a:t>
            </a:r>
            <a:r>
              <a:rPr sz="1200" dirty="0" err="1">
                <a:latin typeface="Aptos"/>
              </a:rPr>
              <a:t>ritenzione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mirate</a:t>
            </a:r>
            <a:r>
              <a:rPr sz="1200" dirty="0">
                <a:latin typeface="Aptos"/>
              </a:rPr>
              <a:t> per </a:t>
            </a:r>
            <a:r>
              <a:rPr sz="1200" dirty="0" err="1">
                <a:latin typeface="Aptos"/>
              </a:rPr>
              <a:t>salvaguardare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ricavi</a:t>
            </a:r>
            <a:r>
              <a:rPr sz="1200" dirty="0">
                <a:latin typeface="Aptos"/>
              </a:rPr>
              <a:t> e </a:t>
            </a:r>
            <a:r>
              <a:rPr sz="1200" dirty="0" err="1">
                <a:latin typeface="Aptos"/>
              </a:rPr>
              <a:t>ottimizzare</a:t>
            </a:r>
            <a:r>
              <a:rPr sz="1200" dirty="0">
                <a:latin typeface="Aptos"/>
              </a:rPr>
              <a:t> le </a:t>
            </a:r>
            <a:r>
              <a:rPr sz="1200" dirty="0" err="1">
                <a:latin typeface="Aptos"/>
              </a:rPr>
              <a:t>operazioni</a:t>
            </a:r>
            <a:r>
              <a:rPr sz="1200" dirty="0">
                <a:latin typeface="Aptos"/>
              </a:rPr>
              <a:t>.</a:t>
            </a:r>
          </a:p>
        </p:txBody>
      </p:sp>
      <p:sp>
        <p:nvSpPr>
          <p:cNvPr id="2" name="Text Placeholder 4" descr="Text content for header box:&#10;&#10;- Must be a SINGLE clear statement between 2-5 words&#10;- Must be complete, clear, and impactful&#10;- Must contain the name of the project or the name of the client&#10;- Must be in uppercase&#10;&#10;&#10;Example: &quot;[NAME OF THE CLIENT], SOLARIA GENAI PLATFORM&quot;">
            <a:extLst>
              <a:ext uri="{FF2B5EF4-FFF2-40B4-BE49-F238E27FC236}">
                <a16:creationId xmlns:a16="http://schemas.microsoft.com/office/drawing/2014/main" id="{D15877CC-E7EB-B08E-5F54-521CAD2500E6}"/>
              </a:ext>
            </a:extLst>
          </p:cNvPr>
          <p:cNvSpPr txBox="1">
            <a:spLocks/>
          </p:cNvSpPr>
          <p:nvPr/>
        </p:nvSpPr>
        <p:spPr>
          <a:xfrm>
            <a:off x="419100" y="317378"/>
            <a:ext cx="11188700" cy="387291"/>
          </a:xfrm>
          <a:prstGeom prst="rect">
            <a:avLst/>
          </a:prstGeom>
          <a:ln/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>
                <a:latin typeface="Aptos"/>
              </a:rPr>
              <a:t>ANALISI PRENOTAZIONI HOTEL</a:t>
            </a:r>
          </a:p>
        </p:txBody>
      </p:sp>
      <p:sp>
        <p:nvSpPr>
          <p:cNvPr id="11" name="Title 3" descr="A clear, concise title that captures the main topic of the slide. Keep it under 10 words.">
            <a:extLst>
              <a:ext uri="{FF2B5EF4-FFF2-40B4-BE49-F238E27FC236}">
                <a16:creationId xmlns:a16="http://schemas.microsoft.com/office/drawing/2014/main" id="{3BE12956-3B6A-F838-6041-A0353BDD4CE8}"/>
              </a:ext>
            </a:extLst>
          </p:cNvPr>
          <p:cNvSpPr txBox="1">
            <a:spLocks/>
          </p:cNvSpPr>
          <p:nvPr/>
        </p:nvSpPr>
        <p:spPr>
          <a:xfrm>
            <a:off x="419100" y="685800"/>
            <a:ext cx="3428785" cy="387291"/>
          </a:xfrm>
          <a:prstGeom prst="rect">
            <a:avLst/>
          </a:prstGeom>
          <a:ln/>
        </p:spPr>
        <p:txBody>
          <a:bodyPr vert="horz" wrap="none" lIns="0" tIns="0" rIns="0" bIns="0" rtlCol="0" anchor="t" anchorCtr="0">
            <a:normAutofit/>
          </a:bodyPr>
          <a:lstStyle>
            <a:lvl1pPr>
              <a:spcBef>
                <a:spcPct val="0"/>
              </a:spcBef>
              <a:buNone/>
              <a:defRPr sz="2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2400">
                <a:latin typeface="Aptos"/>
              </a:rPr>
              <a:t>Scoprire insight con Python e Machine Learning</a:t>
            </a:r>
            <a:endParaRPr lang="it-IT" sz="2400">
              <a:latin typeface="Aptos" panose="020B00040202020202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B4B9E18-AB34-FB01-3316-8F9D10073998}"/>
              </a:ext>
            </a:extLst>
          </p:cNvPr>
          <p:cNvGrpSpPr/>
          <p:nvPr/>
        </p:nvGrpSpPr>
        <p:grpSpPr>
          <a:xfrm>
            <a:off x="286530" y="1408420"/>
            <a:ext cx="720000" cy="720000"/>
            <a:chOff x="274368" y="1408420"/>
            <a:chExt cx="720000" cy="7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E62E8E6-F8A0-89BD-0613-38E07C0322F0}"/>
                </a:ext>
              </a:extLst>
            </p:cNvPr>
            <p:cNvSpPr/>
            <p:nvPr/>
          </p:nvSpPr>
          <p:spPr bwMode="gray">
            <a:xfrm>
              <a:off x="274368" y="1408420"/>
              <a:ext cx="720000" cy="720000"/>
            </a:xfrm>
            <a:prstGeom prst="ellipse">
              <a:avLst/>
            </a:prstGeom>
            <a:solidFill>
              <a:srgbClr val="001534"/>
            </a:solidFill>
            <a:ln w="381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T" sz="1600" b="1">
                <a:solidFill>
                  <a:schemeClr val="bg1"/>
                </a:solidFill>
              </a:endParaRPr>
            </a:p>
          </p:txBody>
        </p:sp>
        <p:pic>
          <p:nvPicPr>
            <p:cNvPr id="7" name="Picture 6" descr="image.png">
              <a:extLst>
                <a:ext uri="{FF2B5EF4-FFF2-40B4-BE49-F238E27FC236}">
                  <a16:creationId xmlns:a16="http://schemas.microsoft.com/office/drawing/2014/main" id="{AFDE845C-12B7-F2E9-40B4-FBDD798E1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tretch>
              <a:fillRect/>
            </a:stretch>
          </p:blipFill>
          <p:spPr>
            <a:xfrm>
              <a:off x="414912" y="1548964"/>
              <a:ext cx="438912" cy="438912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193D365-15FC-1457-98D9-6F8D29CC68DC}"/>
              </a:ext>
            </a:extLst>
          </p:cNvPr>
          <p:cNvGrpSpPr/>
          <p:nvPr/>
        </p:nvGrpSpPr>
        <p:grpSpPr>
          <a:xfrm>
            <a:off x="11288702" y="1279374"/>
            <a:ext cx="720000" cy="720000"/>
            <a:chOff x="8961139" y="1528753"/>
            <a:chExt cx="720000" cy="720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5064B71-5051-02B6-A144-2F4471A83199}"/>
                </a:ext>
              </a:extLst>
            </p:cNvPr>
            <p:cNvSpPr/>
            <p:nvPr/>
          </p:nvSpPr>
          <p:spPr bwMode="gray">
            <a:xfrm>
              <a:off x="8961139" y="1528753"/>
              <a:ext cx="720000" cy="720000"/>
            </a:xfrm>
            <a:prstGeom prst="ellipse">
              <a:avLst/>
            </a:prstGeom>
            <a:solidFill>
              <a:srgbClr val="001534"/>
            </a:solidFill>
            <a:ln w="381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T" sz="1600" b="1">
                <a:solidFill>
                  <a:schemeClr val="bg1"/>
                </a:solidFill>
              </a:endParaRPr>
            </a:p>
          </p:txBody>
        </p:sp>
        <p:pic>
          <p:nvPicPr>
            <p:cNvPr id="14" name="Picture 13" descr="image.png">
              <a:extLst>
                <a:ext uri="{FF2B5EF4-FFF2-40B4-BE49-F238E27FC236}">
                  <a16:creationId xmlns:a16="http://schemas.microsoft.com/office/drawing/2014/main" id="{12527594-0270-7D3E-E241-D9DDEC61D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101683" y="1669297"/>
              <a:ext cx="438912" cy="438912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453FDBC-7CE6-409B-0080-5417CAB75F2D}"/>
              </a:ext>
            </a:extLst>
          </p:cNvPr>
          <p:cNvGrpSpPr/>
          <p:nvPr/>
        </p:nvGrpSpPr>
        <p:grpSpPr>
          <a:xfrm>
            <a:off x="286530" y="3814193"/>
            <a:ext cx="720000" cy="720000"/>
            <a:chOff x="2523924" y="4029441"/>
            <a:chExt cx="720000" cy="720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BA3DF3B-1627-5FC4-849C-C858715FEB55}"/>
                </a:ext>
              </a:extLst>
            </p:cNvPr>
            <p:cNvSpPr/>
            <p:nvPr/>
          </p:nvSpPr>
          <p:spPr bwMode="gray">
            <a:xfrm>
              <a:off x="2523924" y="4029441"/>
              <a:ext cx="720000" cy="720000"/>
            </a:xfrm>
            <a:prstGeom prst="ellipse">
              <a:avLst/>
            </a:prstGeom>
            <a:solidFill>
              <a:srgbClr val="001534"/>
            </a:solidFill>
            <a:ln w="381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T" sz="1600" b="1">
                <a:solidFill>
                  <a:schemeClr val="bg1"/>
                </a:solidFill>
              </a:endParaRPr>
            </a:p>
          </p:txBody>
        </p:sp>
        <p:pic>
          <p:nvPicPr>
            <p:cNvPr id="19" name="Picture 18" descr="image.png">
              <a:extLst>
                <a:ext uri="{FF2B5EF4-FFF2-40B4-BE49-F238E27FC236}">
                  <a16:creationId xmlns:a16="http://schemas.microsoft.com/office/drawing/2014/main" id="{D76FA4F0-06A5-62F7-AEF2-7EF9B26393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664468" y="4169985"/>
              <a:ext cx="438912" cy="43891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CE5790-7DBB-3168-3146-7ECCC952E2D6}"/>
              </a:ext>
            </a:extLst>
          </p:cNvPr>
          <p:cNvGrpSpPr/>
          <p:nvPr/>
        </p:nvGrpSpPr>
        <p:grpSpPr>
          <a:xfrm>
            <a:off x="11288702" y="3814193"/>
            <a:ext cx="720000" cy="720000"/>
            <a:chOff x="8961139" y="4029441"/>
            <a:chExt cx="720000" cy="720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BB3E871-BB44-D22A-074E-36949CDDF514}"/>
                </a:ext>
              </a:extLst>
            </p:cNvPr>
            <p:cNvSpPr/>
            <p:nvPr/>
          </p:nvSpPr>
          <p:spPr bwMode="gray">
            <a:xfrm>
              <a:off x="8961139" y="4029441"/>
              <a:ext cx="720000" cy="720000"/>
            </a:xfrm>
            <a:prstGeom prst="ellipse">
              <a:avLst/>
            </a:prstGeom>
            <a:solidFill>
              <a:srgbClr val="001534"/>
            </a:solidFill>
            <a:ln w="3810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T" sz="1600" b="1">
                <a:solidFill>
                  <a:schemeClr val="bg1"/>
                </a:solidFill>
              </a:endParaRPr>
            </a:p>
          </p:txBody>
        </p:sp>
        <p:pic>
          <p:nvPicPr>
            <p:cNvPr id="27" name="Picture 26" descr="image.png">
              <a:extLst>
                <a:ext uri="{FF2B5EF4-FFF2-40B4-BE49-F238E27FC236}">
                  <a16:creationId xmlns:a16="http://schemas.microsoft.com/office/drawing/2014/main" id="{5455FAEE-0AD4-828B-DE64-8FFEDF3A9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101683" y="4169985"/>
              <a:ext cx="438912" cy="4389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D297A73F-E0D6-6123-584D-850F16680FD3}"/>
              </a:ext>
            </a:extLst>
          </p:cNvPr>
          <p:cNvSpPr/>
          <p:nvPr/>
        </p:nvSpPr>
        <p:spPr>
          <a:xfrm>
            <a:off x="6158771" y="1436107"/>
            <a:ext cx="2688222" cy="4496980"/>
          </a:xfrm>
          <a:prstGeom prst="rect">
            <a:avLst/>
          </a:prstGeom>
          <a:solidFill>
            <a:srgbClr val="DCE8F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Autofit/>
          </a:bodyPr>
          <a:lstStyle/>
          <a:p>
            <a:pPr algn="ctr">
              <a:lnSpc>
                <a:spcPct val="106000"/>
              </a:lnSpc>
            </a:pPr>
            <a:endParaRPr lang="it-IT" sz="1200">
              <a:solidFill>
                <a:schemeClr val="accent3">
                  <a:lumMod val="5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23731C6F-C6FC-422D-3F8D-0932BC79120E}"/>
              </a:ext>
            </a:extLst>
          </p:cNvPr>
          <p:cNvSpPr/>
          <p:nvPr/>
        </p:nvSpPr>
        <p:spPr>
          <a:xfrm>
            <a:off x="9046578" y="1436107"/>
            <a:ext cx="2688222" cy="4496980"/>
          </a:xfrm>
          <a:prstGeom prst="rect">
            <a:avLst/>
          </a:prstGeom>
          <a:solidFill>
            <a:srgbClr val="DCE8F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Autofit/>
          </a:bodyPr>
          <a:lstStyle/>
          <a:p>
            <a:pPr algn="ctr">
              <a:lnSpc>
                <a:spcPct val="106000"/>
              </a:lnSpc>
            </a:pPr>
            <a:endParaRPr lang="it-IT" sz="1200">
              <a:solidFill>
                <a:schemeClr val="accent3">
                  <a:lumMod val="5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2691D4DB-7019-66C4-35F7-2A7A4EF0CA39}"/>
              </a:ext>
            </a:extLst>
          </p:cNvPr>
          <p:cNvSpPr/>
          <p:nvPr/>
        </p:nvSpPr>
        <p:spPr>
          <a:xfrm>
            <a:off x="3204361" y="1436107"/>
            <a:ext cx="2688222" cy="4496980"/>
          </a:xfrm>
          <a:prstGeom prst="rect">
            <a:avLst/>
          </a:prstGeom>
          <a:solidFill>
            <a:srgbClr val="DCE8F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Autofit/>
          </a:bodyPr>
          <a:lstStyle/>
          <a:p>
            <a:pPr algn="ctr">
              <a:lnSpc>
                <a:spcPct val="106000"/>
              </a:lnSpc>
            </a:pPr>
            <a:endParaRPr lang="it-IT" sz="1200">
              <a:solidFill>
                <a:schemeClr val="accent3">
                  <a:lumMod val="5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object 5" descr="Title for the first box:&#10;        - Must be in bold&#10;        - Should be 2 words&#10;        - Must be clear and descriptive&#10;        - Font size 14">
            <a:extLst>
              <a:ext uri="{FF2B5EF4-FFF2-40B4-BE49-F238E27FC236}">
                <a16:creationId xmlns:a16="http://schemas.microsoft.com/office/drawing/2014/main" id="{3AEF839E-FA3E-E90F-04D6-3CCF5B599346}"/>
              </a:ext>
            </a:extLst>
          </p:cNvPr>
          <p:cNvSpPr txBox="1"/>
          <p:nvPr/>
        </p:nvSpPr>
        <p:spPr>
          <a:xfrm>
            <a:off x="3493074" y="2512792"/>
            <a:ext cx="2173747" cy="160875"/>
          </a:xfrm>
          <a:prstGeom prst="rect">
            <a:avLst/>
          </a:prstGeom>
        </p:spPr>
        <p:txBody>
          <a:bodyPr vert="horz" wrap="square" lIns="0" tIns="10377" rIns="0" bIns="0" rtlCol="0">
            <a:normAutofit fontScale="92500" lnSpcReduction="20000"/>
          </a:bodyPr>
          <a:lstStyle/>
          <a:p>
            <a:pPr>
              <a:lnSpc>
                <a:spcPct val="85000"/>
              </a:lnSpc>
            </a:pPr>
            <a:r>
              <a:rPr sz="1400" b="1" dirty="0">
                <a:latin typeface="Aptos"/>
              </a:rPr>
              <a:t>Visualizzazione </a:t>
            </a:r>
            <a:r>
              <a:rPr sz="1400" b="1" dirty="0" err="1">
                <a:latin typeface="Aptos"/>
              </a:rPr>
              <a:t>Interattiva</a:t>
            </a:r>
            <a:endParaRPr lang="it-IT" sz="1400" spc="300" noProof="0" dirty="0">
              <a:solidFill>
                <a:schemeClr val="tx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object 6" descr="Text content for first text box:&#10;        - Must be a SINGLE clear statement between 30-50 words&#10;        - Must highlight key concepts in **bold** (2-3 terms maximum)&#10;        - Must be complete, clear, and impactful&#10;        &#10;        Example: &quot;Implementing **automated workflows** enables streamlined processing of customer requests, reducing manual intervention and improving **operational efficiency** significantly.">
            <a:extLst>
              <a:ext uri="{FF2B5EF4-FFF2-40B4-BE49-F238E27FC236}">
                <a16:creationId xmlns:a16="http://schemas.microsoft.com/office/drawing/2014/main" id="{BD14B52A-D9F2-7052-A873-8CA50A529006}"/>
              </a:ext>
            </a:extLst>
          </p:cNvPr>
          <p:cNvSpPr txBox="1"/>
          <p:nvPr/>
        </p:nvSpPr>
        <p:spPr>
          <a:xfrm>
            <a:off x="3461598" y="2965832"/>
            <a:ext cx="2173748" cy="2753642"/>
          </a:xfrm>
          <a:prstGeom prst="rect">
            <a:avLst/>
          </a:prstGeom>
        </p:spPr>
        <p:txBody>
          <a:bodyPr vert="horz" wrap="square" lIns="0" tIns="6919" rIns="0" bIns="0" rtlCol="0">
            <a:normAutofit/>
          </a:bodyPr>
          <a:lstStyle/>
          <a:p>
            <a:r>
              <a:rPr lang="it-IT" sz="1200" dirty="0">
                <a:latin typeface="Aptos"/>
              </a:rPr>
              <a:t>La nostra </a:t>
            </a:r>
            <a:r>
              <a:rPr lang="it-IT" sz="1200" b="1" dirty="0">
                <a:latin typeface="Aptos"/>
              </a:rPr>
              <a:t>Dashboard </a:t>
            </a:r>
            <a:r>
              <a:rPr lang="it-IT" sz="1200" dirty="0">
                <a:latin typeface="Aptos"/>
              </a:rPr>
              <a:t>è stata strutturata in 4 diverse pagine al fine di garantire una maggior chiarezza nelle analisi effettuata.</a:t>
            </a:r>
          </a:p>
          <a:p>
            <a:r>
              <a:rPr lang="it-IT" sz="1200" dirty="0">
                <a:latin typeface="Aptos"/>
              </a:rPr>
              <a:t>Per la precisione, abbiamo suddiviso il report nelle seguenti pagine:</a:t>
            </a:r>
          </a:p>
          <a:p>
            <a:endParaRPr lang="it-IT" sz="1200" dirty="0">
              <a:latin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b="1" dirty="0" err="1">
                <a:latin typeface="Aptos"/>
              </a:rPr>
              <a:t>Overview</a:t>
            </a:r>
            <a:endParaRPr lang="it-IT" sz="1200" b="1" dirty="0">
              <a:latin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b="1" dirty="0">
                <a:latin typeface="Aptos"/>
              </a:rPr>
              <a:t>Booking Trends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b="1" dirty="0" err="1">
                <a:latin typeface="Aptos"/>
              </a:rPr>
              <a:t>Cancellation</a:t>
            </a:r>
            <a:r>
              <a:rPr lang="it-IT" sz="1200" b="1" dirty="0">
                <a:latin typeface="Aptos"/>
              </a:rPr>
              <a:t>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b="1" dirty="0">
                <a:latin typeface="Aptos"/>
              </a:rPr>
              <a:t>Revenue &amp; Guests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sz="1100" dirty="0">
              <a:latin typeface="Aptos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F37BA400-EBA4-2C9B-6AF4-3335CA3A398B}"/>
              </a:ext>
            </a:extLst>
          </p:cNvPr>
          <p:cNvSpPr txBox="1"/>
          <p:nvPr/>
        </p:nvSpPr>
        <p:spPr>
          <a:xfrm>
            <a:off x="3493071" y="1616069"/>
            <a:ext cx="656020" cy="623315"/>
          </a:xfrm>
          <a:prstGeom prst="rect">
            <a:avLst/>
          </a:prstGeom>
        </p:spPr>
        <p:txBody>
          <a:bodyPr vert="horz" wrap="square" lIns="0" tIns="7687" rIns="0" bIns="0" rtlCol="0">
            <a:noAutofit/>
          </a:bodyPr>
          <a:lstStyle/>
          <a:p>
            <a:pPr marL="7686" marR="0" lvl="0" indent="0" fontAlgn="auto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4000" spc="12" dirty="0">
                <a:solidFill>
                  <a:srgbClr val="046A38"/>
                </a:solidFill>
                <a:latin typeface="Aptos" panose="020B0004020202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B6E9122C-799C-744C-B945-767B00927957}"/>
              </a:ext>
            </a:extLst>
          </p:cNvPr>
          <p:cNvSpPr txBox="1"/>
          <p:nvPr/>
        </p:nvSpPr>
        <p:spPr>
          <a:xfrm>
            <a:off x="6421044" y="1616069"/>
            <a:ext cx="1326407" cy="623315"/>
          </a:xfrm>
          <a:prstGeom prst="rect">
            <a:avLst/>
          </a:prstGeom>
        </p:spPr>
        <p:txBody>
          <a:bodyPr vert="horz" wrap="square" lIns="0" tIns="7687" rIns="0" bIns="0" rtlCol="0">
            <a:noAutofit/>
          </a:bodyPr>
          <a:lstStyle/>
          <a:p>
            <a:pPr marL="7686" marR="0" lvl="0" indent="0" algn="l" defTabSz="914400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4000" spc="12" dirty="0">
                <a:solidFill>
                  <a:srgbClr val="046A38"/>
                </a:solidFill>
                <a:latin typeface="Aptos" panose="020B0004020202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18C796D4-E1AD-51E5-8383-EC0101C87B5E}"/>
              </a:ext>
            </a:extLst>
          </p:cNvPr>
          <p:cNvSpPr txBox="1"/>
          <p:nvPr/>
        </p:nvSpPr>
        <p:spPr>
          <a:xfrm>
            <a:off x="9317485" y="1616069"/>
            <a:ext cx="1359116" cy="623315"/>
          </a:xfrm>
          <a:prstGeom prst="rect">
            <a:avLst/>
          </a:prstGeom>
        </p:spPr>
        <p:txBody>
          <a:bodyPr vert="horz" wrap="square" lIns="0" tIns="7687" rIns="0" bIns="0" rtlCol="0">
            <a:noAutofit/>
          </a:bodyPr>
          <a:lstStyle/>
          <a:p>
            <a:pPr marL="7686" marR="0" lvl="0" indent="0" fontAlgn="auto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4000" spc="12" dirty="0">
                <a:solidFill>
                  <a:srgbClr val="046A38"/>
                </a:solidFill>
                <a:latin typeface="Aptos" panose="020B0004020202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</a:p>
        </p:txBody>
      </p:sp>
      <p:sp>
        <p:nvSpPr>
          <p:cNvPr id="18" name="object 6" descr="Text content for second text box:&#10;        - Must be a SINGLE clear statement between 30-50 words&#10;        - Must highlight key concepts in **bold** (2-3 terms maximum)&#10;        - Must be complete, clear, and impactful&#10;        &#10;        Example: &quot;Implementing **automated workflows** enables streamlined processing of customer requests, reducing manual intervention and improving **operational efficiency** significantly.">
            <a:extLst>
              <a:ext uri="{FF2B5EF4-FFF2-40B4-BE49-F238E27FC236}">
                <a16:creationId xmlns:a16="http://schemas.microsoft.com/office/drawing/2014/main" id="{2CAD8D85-5B76-EF5A-B6ED-F29C9E5C6E3F}"/>
              </a:ext>
            </a:extLst>
          </p:cNvPr>
          <p:cNvSpPr txBox="1"/>
          <p:nvPr/>
        </p:nvSpPr>
        <p:spPr>
          <a:xfrm>
            <a:off x="6421044" y="2964079"/>
            <a:ext cx="2173748" cy="2758638"/>
          </a:xfrm>
          <a:prstGeom prst="rect">
            <a:avLst/>
          </a:prstGeom>
        </p:spPr>
        <p:txBody>
          <a:bodyPr vert="horz" wrap="square" lIns="0" tIns="6919" rIns="0" bIns="0" rtlCol="0">
            <a:normAutofit/>
          </a:bodyPr>
          <a:lstStyle/>
          <a:p>
            <a:r>
              <a:rPr lang="it-IT" sz="1200" dirty="0">
                <a:latin typeface="Aptos"/>
              </a:rPr>
              <a:t>Per favorire un’analisi quanto più accurata possibile, sono stati </a:t>
            </a:r>
            <a:r>
              <a:rPr lang="it-IT" sz="1200" b="1" dirty="0">
                <a:latin typeface="Aptos"/>
              </a:rPr>
              <a:t>create</a:t>
            </a:r>
            <a:r>
              <a:rPr lang="it-IT" sz="1200" dirty="0">
                <a:latin typeface="Aptos"/>
              </a:rPr>
              <a:t> delle </a:t>
            </a:r>
            <a:r>
              <a:rPr lang="it-IT" sz="1200" b="1" dirty="0">
                <a:latin typeface="Aptos"/>
              </a:rPr>
              <a:t>Misure</a:t>
            </a:r>
            <a:r>
              <a:rPr lang="it-IT" sz="1200" dirty="0">
                <a:latin typeface="Aptos"/>
              </a:rPr>
              <a:t> specifiche, utilizzate all’interno dei grafici e dei </a:t>
            </a:r>
            <a:r>
              <a:rPr lang="it-IT" sz="1200" b="1" dirty="0">
                <a:latin typeface="Aptos"/>
              </a:rPr>
              <a:t>Bookmarks</a:t>
            </a:r>
            <a:r>
              <a:rPr lang="it-IT" sz="1200" dirty="0">
                <a:latin typeface="Aptos"/>
              </a:rPr>
              <a:t> per assicurare una maggiore </a:t>
            </a:r>
            <a:r>
              <a:rPr lang="it-IT" sz="1200" b="1" dirty="0">
                <a:latin typeface="Aptos"/>
              </a:rPr>
              <a:t>navigabilità della Dashboard</a:t>
            </a:r>
            <a:endParaRPr sz="1200" b="1" dirty="0">
              <a:latin typeface="Aptos"/>
            </a:endParaRPr>
          </a:p>
        </p:txBody>
      </p:sp>
      <p:sp>
        <p:nvSpPr>
          <p:cNvPr id="19" name="object 6" descr="Text content for third text box:&#10;        - Must be a SINGLE clear statement between 30-50 words&#10;        - Must highlight key concepts in **bold** (2-3 terms maximum)&#10;        - Must be complete, clear, and impactful&#10;        &#10;        Example: &quot;Implementing **automated workflows** enables streamlined processing of customer requests, reducing manual intervention and improving **operational efficiency** significantly.">
            <a:extLst>
              <a:ext uri="{FF2B5EF4-FFF2-40B4-BE49-F238E27FC236}">
                <a16:creationId xmlns:a16="http://schemas.microsoft.com/office/drawing/2014/main" id="{EDF264CC-D41B-AE36-9F9B-18E555AF2FEB}"/>
              </a:ext>
            </a:extLst>
          </p:cNvPr>
          <p:cNvSpPr txBox="1"/>
          <p:nvPr/>
        </p:nvSpPr>
        <p:spPr>
          <a:xfrm>
            <a:off x="9295128" y="2960836"/>
            <a:ext cx="2173748" cy="2758638"/>
          </a:xfrm>
          <a:prstGeom prst="rect">
            <a:avLst/>
          </a:prstGeom>
        </p:spPr>
        <p:txBody>
          <a:bodyPr vert="horz" wrap="square" lIns="0" tIns="6919" rIns="0" bIns="0" rtlCol="0">
            <a:normAutofit/>
          </a:bodyPr>
          <a:lstStyle/>
          <a:p>
            <a:r>
              <a:rPr sz="1200" dirty="0">
                <a:latin typeface="Aptos"/>
              </a:rPr>
              <a:t>Power BI </a:t>
            </a:r>
            <a:r>
              <a:rPr sz="1200" dirty="0" err="1">
                <a:latin typeface="Aptos"/>
              </a:rPr>
              <a:t>semplifica</a:t>
            </a:r>
            <a:r>
              <a:rPr sz="1200" dirty="0">
                <a:latin typeface="Aptos"/>
              </a:rPr>
              <a:t> la </a:t>
            </a:r>
            <a:r>
              <a:rPr sz="1200" dirty="0" err="1">
                <a:latin typeface="Aptos"/>
              </a:rPr>
              <a:t>condivisione</a:t>
            </a:r>
            <a:r>
              <a:rPr sz="1200" dirty="0">
                <a:latin typeface="Aptos"/>
              </a:rPr>
              <a:t> di report e insight in </a:t>
            </a:r>
            <a:r>
              <a:rPr sz="1200" dirty="0" err="1">
                <a:latin typeface="Aptos"/>
              </a:rPr>
              <a:t>tutta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l'organizzazione</a:t>
            </a:r>
            <a:r>
              <a:rPr sz="1200" dirty="0">
                <a:latin typeface="Aptos"/>
              </a:rPr>
              <a:t>. Questa </a:t>
            </a:r>
            <a:r>
              <a:rPr sz="1200" dirty="0" err="1">
                <a:latin typeface="Aptos"/>
              </a:rPr>
              <a:t>funzionalità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garantisce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che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risultati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dell'analisi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vengano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comunicati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efficacemente</a:t>
            </a:r>
            <a:r>
              <a:rPr sz="1200" dirty="0">
                <a:latin typeface="Aptos"/>
              </a:rPr>
              <a:t>, </a:t>
            </a:r>
            <a:r>
              <a:rPr sz="1200" dirty="0" err="1">
                <a:latin typeface="Aptos"/>
              </a:rPr>
              <a:t>supportando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una</a:t>
            </a:r>
            <a:r>
              <a:rPr sz="1200" dirty="0">
                <a:latin typeface="Aptos"/>
              </a:rPr>
              <a:t> </a:t>
            </a:r>
            <a:r>
              <a:rPr sz="1200" b="1" dirty="0" err="1">
                <a:latin typeface="Aptos"/>
              </a:rPr>
              <a:t>collaborazione</a:t>
            </a:r>
            <a:r>
              <a:rPr sz="1200" b="1" dirty="0">
                <a:latin typeface="Aptos"/>
              </a:rPr>
              <a:t> </a:t>
            </a:r>
            <a:r>
              <a:rPr sz="1200" b="1" dirty="0" err="1">
                <a:latin typeface="Aptos"/>
              </a:rPr>
              <a:t>strategica</a:t>
            </a:r>
            <a:r>
              <a:rPr sz="1200" dirty="0">
                <a:latin typeface="Aptos"/>
              </a:rPr>
              <a:t> e </a:t>
            </a:r>
            <a:r>
              <a:rPr sz="1200" dirty="0" err="1">
                <a:latin typeface="Aptos"/>
              </a:rPr>
              <a:t>assicurando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che</a:t>
            </a:r>
            <a:r>
              <a:rPr sz="1200" dirty="0">
                <a:latin typeface="Aptos"/>
              </a:rPr>
              <a:t> le </a:t>
            </a:r>
            <a:r>
              <a:rPr sz="1200" dirty="0" err="1">
                <a:latin typeface="Aptos"/>
              </a:rPr>
              <a:t>decisioni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siano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basate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su</a:t>
            </a:r>
            <a:r>
              <a:rPr sz="1200" dirty="0">
                <a:latin typeface="Aptos"/>
              </a:rPr>
              <a:t> </a:t>
            </a:r>
            <a:r>
              <a:rPr sz="1200" b="1" dirty="0" err="1">
                <a:latin typeface="Aptos"/>
              </a:rPr>
              <a:t>informazioni</a:t>
            </a:r>
            <a:r>
              <a:rPr sz="1200" b="1" dirty="0">
                <a:latin typeface="Aptos"/>
              </a:rPr>
              <a:t> </a:t>
            </a:r>
            <a:r>
              <a:rPr sz="1200" b="1" dirty="0" err="1">
                <a:latin typeface="Aptos"/>
              </a:rPr>
              <a:t>aggiornate</a:t>
            </a:r>
            <a:r>
              <a:rPr sz="1200" dirty="0">
                <a:latin typeface="Aptos"/>
              </a:rPr>
              <a:t> e </a:t>
            </a:r>
            <a:r>
              <a:rPr sz="1200" dirty="0" err="1">
                <a:latin typeface="Aptos"/>
              </a:rPr>
              <a:t>condivise</a:t>
            </a:r>
            <a:r>
              <a:rPr sz="1200" dirty="0">
                <a:latin typeface="Aptos"/>
              </a:rPr>
              <a:t>.</a:t>
            </a:r>
          </a:p>
        </p:txBody>
      </p:sp>
      <p:sp>
        <p:nvSpPr>
          <p:cNvPr id="20" name="object 5" descr="Title for the second box:&#10;        - Must be in bold&#10;        - Should be 2 words&#10;        - Must be clear and descriptive &#10;        - Font size 14">
            <a:extLst>
              <a:ext uri="{FF2B5EF4-FFF2-40B4-BE49-F238E27FC236}">
                <a16:creationId xmlns:a16="http://schemas.microsoft.com/office/drawing/2014/main" id="{D4B8DE05-9D4D-84AE-8C3B-59A4C4F92C3D}"/>
              </a:ext>
            </a:extLst>
          </p:cNvPr>
          <p:cNvSpPr txBox="1"/>
          <p:nvPr/>
        </p:nvSpPr>
        <p:spPr>
          <a:xfrm>
            <a:off x="6290554" y="2432751"/>
            <a:ext cx="2441642" cy="320957"/>
          </a:xfrm>
          <a:prstGeom prst="rect">
            <a:avLst/>
          </a:prstGeom>
        </p:spPr>
        <p:txBody>
          <a:bodyPr vert="horz" wrap="square" lIns="0" tIns="10377" rIns="0" bIns="0" rtlCol="0">
            <a:normAutofit fontScale="92500"/>
          </a:bodyPr>
          <a:lstStyle/>
          <a:p>
            <a:pPr algn="ctr">
              <a:lnSpc>
                <a:spcPct val="85000"/>
              </a:lnSpc>
            </a:pPr>
            <a:r>
              <a:rPr lang="it-IT" sz="1400" b="1" dirty="0">
                <a:latin typeface="Aptos"/>
              </a:rPr>
              <a:t>Creazione di Misure e Bookmarks</a:t>
            </a:r>
            <a:endParaRPr lang="it-IT" sz="1400" spc="300" noProof="0" dirty="0">
              <a:solidFill>
                <a:schemeClr val="tx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object 5" descr="Title for the third box:&#10;        - Must be in bold&#10;        - Should be 2 words&#10;        - Must be clear and descriptive &#10;        - Font size 14">
            <a:extLst>
              <a:ext uri="{FF2B5EF4-FFF2-40B4-BE49-F238E27FC236}">
                <a16:creationId xmlns:a16="http://schemas.microsoft.com/office/drawing/2014/main" id="{52ADFDBB-3C9D-A0A2-773E-E8A48CA85993}"/>
              </a:ext>
            </a:extLst>
          </p:cNvPr>
          <p:cNvSpPr txBox="1"/>
          <p:nvPr/>
        </p:nvSpPr>
        <p:spPr>
          <a:xfrm>
            <a:off x="9295128" y="2512792"/>
            <a:ext cx="2173749" cy="160875"/>
          </a:xfrm>
          <a:prstGeom prst="rect">
            <a:avLst/>
          </a:prstGeom>
        </p:spPr>
        <p:txBody>
          <a:bodyPr vert="horz" wrap="square" lIns="0" tIns="10377" rIns="0" bIns="0" rtlCol="0">
            <a:normAutofit fontScale="92500" lnSpcReduction="20000"/>
          </a:bodyPr>
          <a:lstStyle/>
          <a:p>
            <a:pPr>
              <a:lnSpc>
                <a:spcPct val="85000"/>
              </a:lnSpc>
            </a:pPr>
            <a:r>
              <a:rPr sz="1400" b="1">
                <a:latin typeface="Aptos"/>
              </a:rPr>
              <a:t>Condivisione Insight</a:t>
            </a:r>
            <a:endParaRPr lang="it-IT" sz="1400" spc="300" noProof="0">
              <a:solidFill>
                <a:schemeClr val="tx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F403F03-8B2A-3C47-4893-2E081C91B8BE}"/>
              </a:ext>
            </a:extLst>
          </p:cNvPr>
          <p:cNvSpPr/>
          <p:nvPr/>
        </p:nvSpPr>
        <p:spPr bwMode="gray">
          <a:xfrm>
            <a:off x="491490" y="2239384"/>
            <a:ext cx="2618542" cy="2660607"/>
          </a:xfrm>
          <a:prstGeom prst="ellipse">
            <a:avLst/>
          </a:prstGeom>
          <a:solidFill>
            <a:srgbClr val="041E42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it-IT" sz="1600" b="1" dirty="0">
              <a:solidFill/>
              <a:latin typeface="Aptos" panose="020B0004020202020204" pitchFamily="34" charset="0"/>
            </a:endParaRPr>
          </a:p>
        </p:txBody>
      </p:sp>
      <p:sp>
        <p:nvSpPr>
          <p:cNvPr id="4" name="Text Placeholder 4" descr="Text content for header box:&#10;&#10;- Must be a SINGLE clear statement between 2-5 words&#10;- Must be complete, clear, and impactful&#10;- Must contain the name of the project or the name of the client&#10;- Must be in uppercase&#10;&#10;&#10;Example: &quot;[NAME OF THE CLIENT], SOLARIA GENAI PLATFORM&quot;">
            <a:extLst>
              <a:ext uri="{FF2B5EF4-FFF2-40B4-BE49-F238E27FC236}">
                <a16:creationId xmlns:a16="http://schemas.microsoft.com/office/drawing/2014/main" id="{9A0E2BDD-B54E-7FE6-3892-60855A042E0F}"/>
              </a:ext>
            </a:extLst>
          </p:cNvPr>
          <p:cNvSpPr txBox="1">
            <a:spLocks/>
          </p:cNvSpPr>
          <p:nvPr/>
        </p:nvSpPr>
        <p:spPr>
          <a:xfrm>
            <a:off x="419100" y="317378"/>
            <a:ext cx="11188700" cy="387291"/>
          </a:xfrm>
          <a:prstGeom prst="rect">
            <a:avLst/>
          </a:prstGeom>
          <a:ln/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>
                <a:latin typeface="Aptos"/>
              </a:rPr>
              <a:t>ANALISI PRENOTAZIONI HOTEL</a:t>
            </a:r>
          </a:p>
        </p:txBody>
      </p:sp>
      <p:sp>
        <p:nvSpPr>
          <p:cNvPr id="5" name="Title 3" descr="A clear, concise title that captures the main topic of the slide. Keep it under 10 words.">
            <a:extLst>
              <a:ext uri="{FF2B5EF4-FFF2-40B4-BE49-F238E27FC236}">
                <a16:creationId xmlns:a16="http://schemas.microsoft.com/office/drawing/2014/main" id="{47FADF7E-1C47-81C4-CFC0-B1FEF075DAB1}"/>
              </a:ext>
            </a:extLst>
          </p:cNvPr>
          <p:cNvSpPr txBox="1">
            <a:spLocks/>
          </p:cNvSpPr>
          <p:nvPr/>
        </p:nvSpPr>
        <p:spPr>
          <a:xfrm>
            <a:off x="419100" y="685800"/>
            <a:ext cx="3428785" cy="387291"/>
          </a:xfrm>
          <a:prstGeom prst="rect">
            <a:avLst/>
          </a:prstGeom>
          <a:ln/>
        </p:spPr>
        <p:txBody>
          <a:bodyPr vert="horz" wrap="none" lIns="0" tIns="0" rIns="0" bIns="0" rtlCol="0" anchor="t" anchorCtr="0">
            <a:normAutofit/>
          </a:bodyPr>
          <a:lstStyle>
            <a:lvl1pPr>
              <a:spcBef>
                <a:spcPct val="0"/>
              </a:spcBef>
              <a:buNone/>
              <a:defRPr sz="2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2400">
                <a:latin typeface="Aptos"/>
              </a:rPr>
              <a:t>Visualizzare la storia con Power BI</a:t>
            </a:r>
            <a:endParaRPr lang="it-IT" sz="2400">
              <a:latin typeface="Aptos" panose="020B0004020202020204" pitchFamily="34" charset="0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077878" y="2835066"/>
            <a:ext cx="1445764" cy="14692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4737CC88-0C8D-B13E-1354-DC9156D7E846}"/>
              </a:ext>
            </a:extLst>
          </p:cNvPr>
          <p:cNvSpPr/>
          <p:nvPr/>
        </p:nvSpPr>
        <p:spPr bwMode="gray">
          <a:xfrm>
            <a:off x="8797600" y="4036290"/>
            <a:ext cx="2407101" cy="1934889"/>
          </a:xfrm>
          <a:prstGeom prst="roundRect">
            <a:avLst/>
          </a:prstGeom>
          <a:solidFill>
            <a:srgbClr val="DCE8F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Autofit/>
          </a:bodyPr>
          <a:lstStyle/>
          <a:p>
            <a:pPr algn="ctr">
              <a:lnSpc>
                <a:spcPct val="106000"/>
              </a:lnSpc>
            </a:pPr>
            <a:endParaRPr lang="en-IT" sz="1200">
              <a:solidFill>
                <a:schemeClr val="accent3">
                  <a:lumMod val="5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79EF9F6F-F46C-7805-ED5C-E20E3E18987A}"/>
              </a:ext>
            </a:extLst>
          </p:cNvPr>
          <p:cNvSpPr/>
          <p:nvPr/>
        </p:nvSpPr>
        <p:spPr bwMode="gray">
          <a:xfrm>
            <a:off x="4893151" y="4036290"/>
            <a:ext cx="2407101" cy="1934889"/>
          </a:xfrm>
          <a:prstGeom prst="roundRect">
            <a:avLst/>
          </a:prstGeom>
          <a:solidFill>
            <a:srgbClr val="DCE8F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Autofit/>
          </a:bodyPr>
          <a:lstStyle/>
          <a:p>
            <a:pPr algn="ctr">
              <a:lnSpc>
                <a:spcPct val="106000"/>
              </a:lnSpc>
            </a:pPr>
            <a:endParaRPr lang="en-IT" sz="1200">
              <a:solidFill>
                <a:schemeClr val="accent3">
                  <a:lumMod val="5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662FE757-4288-7B34-3944-B82CCB4FEA76}"/>
              </a:ext>
            </a:extLst>
          </p:cNvPr>
          <p:cNvSpPr/>
          <p:nvPr/>
        </p:nvSpPr>
        <p:spPr bwMode="gray">
          <a:xfrm>
            <a:off x="941730" y="4036290"/>
            <a:ext cx="2407101" cy="1934889"/>
          </a:xfrm>
          <a:prstGeom prst="roundRect">
            <a:avLst/>
          </a:prstGeom>
          <a:solidFill>
            <a:srgbClr val="DCE8F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Autofit/>
          </a:bodyPr>
          <a:lstStyle/>
          <a:p>
            <a:pPr algn="ctr">
              <a:lnSpc>
                <a:spcPct val="106000"/>
              </a:lnSpc>
            </a:pPr>
            <a:endParaRPr lang="en-IT" sz="1200">
              <a:solidFill>
                <a:schemeClr val="accent3">
                  <a:lumMod val="5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6" name="Text Placeholder 4" descr="Text content for header box:&#10;&#10;- Must be a SINGLE clear statement between 2-5 words&#10;- Must be complete, clear, and impactful&#10;- Must contain the name of the project or the name of the client&#10;- Must be in uppercase&#10;&#10;&#10;Example: &quot;[NAME OF THE CLIENT], SOLARIA GENAI PLATFORM&quot;">
            <a:extLst>
              <a:ext uri="{FF2B5EF4-FFF2-40B4-BE49-F238E27FC236}">
                <a16:creationId xmlns:a16="http://schemas.microsoft.com/office/drawing/2014/main" id="{98041FEB-F111-367B-9B7D-44F590429741}"/>
              </a:ext>
            </a:extLst>
          </p:cNvPr>
          <p:cNvSpPr txBox="1">
            <a:spLocks/>
          </p:cNvSpPr>
          <p:nvPr/>
        </p:nvSpPr>
        <p:spPr>
          <a:xfrm>
            <a:off x="419100" y="317378"/>
            <a:ext cx="11188700" cy="387291"/>
          </a:xfrm>
          <a:prstGeom prst="rect">
            <a:avLst/>
          </a:prstGeom>
          <a:ln/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>
                <a:latin typeface="Aptos"/>
              </a:rPr>
              <a:t>ANALISI PRENOTAZIONI HOTEL</a:t>
            </a:r>
          </a:p>
        </p:txBody>
      </p:sp>
      <p:sp>
        <p:nvSpPr>
          <p:cNvPr id="47" name="Title 3" descr="A clear, concise title that captures the main topic of the slide. Keep it under 10 words.">
            <a:extLst>
              <a:ext uri="{FF2B5EF4-FFF2-40B4-BE49-F238E27FC236}">
                <a16:creationId xmlns:a16="http://schemas.microsoft.com/office/drawing/2014/main" id="{CF8DF0C5-65E8-2897-7E56-36142439A92E}"/>
              </a:ext>
            </a:extLst>
          </p:cNvPr>
          <p:cNvSpPr txBox="1">
            <a:spLocks/>
          </p:cNvSpPr>
          <p:nvPr/>
        </p:nvSpPr>
        <p:spPr>
          <a:xfrm>
            <a:off x="419100" y="685800"/>
            <a:ext cx="11017484" cy="387291"/>
          </a:xfrm>
          <a:prstGeom prst="rect">
            <a:avLst/>
          </a:prstGeom>
          <a:ln/>
        </p:spPr>
        <p:txBody>
          <a:bodyPr vert="horz" wrap="none" lIns="0" tIns="0" rIns="0" bIns="0" rtlCol="0" anchor="t" anchorCtr="0">
            <a:normAutofit/>
          </a:bodyPr>
          <a:lstStyle>
            <a:lvl1pPr>
              <a:spcBef>
                <a:spcPct val="0"/>
              </a:spcBef>
              <a:buNone/>
              <a:defRPr sz="2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2400">
                <a:latin typeface="Aptos"/>
              </a:rPr>
              <a:t>Dall'analisi all'azione: Risultati chiave e decisioni strategiche</a:t>
            </a:r>
            <a:endParaRPr lang="it-IT" sz="2400">
              <a:latin typeface="Aptos" panose="020B0004020202020204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42820AA-133A-7BBF-6E62-AE6B9775302F}"/>
              </a:ext>
            </a:extLst>
          </p:cNvPr>
          <p:cNvCxnSpPr>
            <a:cxnSpLocks/>
          </p:cNvCxnSpPr>
          <p:nvPr/>
        </p:nvCxnSpPr>
        <p:spPr>
          <a:xfrm>
            <a:off x="4078657" y="1324008"/>
            <a:ext cx="0" cy="4770783"/>
          </a:xfrm>
          <a:prstGeom prst="line">
            <a:avLst/>
          </a:prstGeom>
          <a:ln w="57150" cap="rnd">
            <a:solidFill>
              <a:srgbClr val="D0D0CE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04A3B11-F671-8927-49B7-F18CBF4ECAAD}"/>
              </a:ext>
            </a:extLst>
          </p:cNvPr>
          <p:cNvCxnSpPr>
            <a:cxnSpLocks/>
          </p:cNvCxnSpPr>
          <p:nvPr/>
        </p:nvCxnSpPr>
        <p:spPr>
          <a:xfrm>
            <a:off x="8017857" y="1324008"/>
            <a:ext cx="0" cy="4770783"/>
          </a:xfrm>
          <a:prstGeom prst="line">
            <a:avLst/>
          </a:prstGeom>
          <a:ln w="57150" cap="rnd">
            <a:solidFill>
              <a:srgbClr val="D0D0CE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B2B22671-45F8-6987-8D5C-9A586769B8FA}"/>
              </a:ext>
            </a:extLst>
          </p:cNvPr>
          <p:cNvSpPr/>
          <p:nvPr/>
        </p:nvSpPr>
        <p:spPr bwMode="gray">
          <a:xfrm>
            <a:off x="1731280" y="1983957"/>
            <a:ext cx="828000" cy="828000"/>
          </a:xfrm>
          <a:prstGeom prst="ellipse">
            <a:avLst/>
          </a:prstGeom>
          <a:solidFill>
            <a:srgbClr val="FFFFFF"/>
          </a:solidFill>
          <a:ln w="38100" algn="ctr">
            <a:solidFill>
              <a:srgbClr val="041E42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T" sz="1600" b="1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A36BF36-A6AB-A713-A992-071E6E568938}"/>
              </a:ext>
            </a:extLst>
          </p:cNvPr>
          <p:cNvSpPr/>
          <p:nvPr/>
        </p:nvSpPr>
        <p:spPr bwMode="gray">
          <a:xfrm>
            <a:off x="5682701" y="1983957"/>
            <a:ext cx="828000" cy="828000"/>
          </a:xfrm>
          <a:prstGeom prst="ellipse">
            <a:avLst/>
          </a:prstGeom>
          <a:solidFill>
            <a:srgbClr val="FFFFFF"/>
          </a:solidFill>
          <a:ln w="38100" algn="ctr">
            <a:solidFill>
              <a:srgbClr val="041E42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T" sz="1600" b="1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2D6AD68-73C3-4A14-6800-E4248190EEAA}"/>
              </a:ext>
            </a:extLst>
          </p:cNvPr>
          <p:cNvSpPr/>
          <p:nvPr/>
        </p:nvSpPr>
        <p:spPr bwMode="gray">
          <a:xfrm>
            <a:off x="9587150" y="1983957"/>
            <a:ext cx="828000" cy="828000"/>
          </a:xfrm>
          <a:prstGeom prst="ellipse">
            <a:avLst/>
          </a:prstGeom>
          <a:solidFill>
            <a:srgbClr val="FFFFFF"/>
          </a:solidFill>
          <a:ln w="38100" algn="ctr">
            <a:solidFill>
              <a:srgbClr val="041E42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T" sz="1600" b="1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FFBCC6A-0E65-09F1-3395-A9B60778A359}"/>
              </a:ext>
            </a:extLst>
          </p:cNvPr>
          <p:cNvSpPr/>
          <p:nvPr/>
        </p:nvSpPr>
        <p:spPr bwMode="gray">
          <a:xfrm>
            <a:off x="926171" y="3252160"/>
            <a:ext cx="2438219" cy="541700"/>
          </a:xfrm>
          <a:prstGeom prst="roundRect">
            <a:avLst/>
          </a:prstGeom>
          <a:solidFill>
            <a:srgbClr val="DCE8F5"/>
          </a:solidFill>
          <a:ln w="25400" cap="flat" cmpd="sng" algn="ctr">
            <a:noFill/>
            <a:prstDash val="solid"/>
          </a:ln>
          <a:effectLst/>
        </p:spPr>
        <p:txBody>
          <a:bodyPr lIns="91440" tIns="91440" rIns="91440" bIns="91440" rtlCol="0" anchor="ctr"/>
          <a:lstStyle/>
          <a:p>
            <a:endParaRPr lang="it-IT" sz="1000" b="1" kern="0">
              <a:solidFill>
                <a:srgbClr val="1C3D26"/>
              </a:solidFill>
              <a:latin typeface="Aptos"/>
            </a:endParaRPr>
          </a:p>
        </p:txBody>
      </p:sp>
      <p:sp>
        <p:nvSpPr>
          <p:cNvPr id="44" name="Rectangle 43" descr="Title for the first box:&#10;        - Must be in bold&#10;        - Should be 2 words&#10;        - Must be clear and descriptive&#10; I.e. **Generative AI*">
            <a:extLst>
              <a:ext uri="{FF2B5EF4-FFF2-40B4-BE49-F238E27FC236}">
                <a16:creationId xmlns:a16="http://schemas.microsoft.com/office/drawing/2014/main" id="{F23C1286-5BCE-5906-4A9E-8C4A4F1FD7F2}"/>
              </a:ext>
            </a:extLst>
          </p:cNvPr>
          <p:cNvSpPr/>
          <p:nvPr/>
        </p:nvSpPr>
        <p:spPr bwMode="gray">
          <a:xfrm>
            <a:off x="957280" y="3331498"/>
            <a:ext cx="2376000" cy="383024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sz="1400" b="1" dirty="0" err="1">
                <a:latin typeface="Aptos"/>
              </a:rPr>
              <a:t>Ottimizzazione</a:t>
            </a:r>
            <a:r>
              <a:rPr sz="1400" b="1" dirty="0">
                <a:latin typeface="Aptos"/>
              </a:rPr>
              <a:t> </a:t>
            </a:r>
            <a:r>
              <a:rPr sz="1400" b="1" dirty="0" err="1">
                <a:latin typeface="Aptos"/>
              </a:rPr>
              <a:t>Ricavi</a:t>
            </a:r>
            <a:endParaRPr sz="1400" b="1" dirty="0">
              <a:latin typeface="Aptos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A98D61B-F0D7-DAEC-101F-A278023097F1}"/>
              </a:ext>
            </a:extLst>
          </p:cNvPr>
          <p:cNvSpPr/>
          <p:nvPr/>
        </p:nvSpPr>
        <p:spPr bwMode="gray">
          <a:xfrm>
            <a:off x="4877592" y="3252160"/>
            <a:ext cx="2438219" cy="541700"/>
          </a:xfrm>
          <a:prstGeom prst="roundRect">
            <a:avLst/>
          </a:prstGeom>
          <a:solidFill>
            <a:srgbClr val="62B5E5"/>
          </a:solidFill>
          <a:ln w="25400" cap="flat" cmpd="sng" algn="ctr">
            <a:noFill/>
            <a:prstDash val="solid"/>
          </a:ln>
          <a:effectLst/>
        </p:spPr>
        <p:txBody>
          <a:bodyPr lIns="91440" tIns="91440" rIns="91440" bIns="91440" rtlCol="0" anchor="ctr"/>
          <a:lstStyle/>
          <a:p>
            <a:endParaRPr lang="it-IT" sz="1000" b="1" kern="0">
              <a:solidFill>
                <a:srgbClr val="1C3D26"/>
              </a:solidFill>
              <a:latin typeface="Aptos"/>
            </a:endParaRPr>
          </a:p>
        </p:txBody>
      </p:sp>
      <p:sp>
        <p:nvSpPr>
          <p:cNvPr id="48" name="Rectangle 47" descr="Title for the second box:&#10;        - Must be in bold&#10;        - Should be 2 words&#10;        - Must be clear and descriptive&#10; I.e. **Generative AI*">
            <a:extLst>
              <a:ext uri="{FF2B5EF4-FFF2-40B4-BE49-F238E27FC236}">
                <a16:creationId xmlns:a16="http://schemas.microsoft.com/office/drawing/2014/main" id="{689849C9-66B5-7062-E577-B0E604DCFE71}"/>
              </a:ext>
            </a:extLst>
          </p:cNvPr>
          <p:cNvSpPr/>
          <p:nvPr/>
        </p:nvSpPr>
        <p:spPr bwMode="gray">
          <a:xfrm>
            <a:off x="4908701" y="3331498"/>
            <a:ext cx="2376000" cy="383024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sz="1400" b="1">
                <a:latin typeface="Aptos"/>
              </a:rPr>
              <a:t>Esperienza Cliente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FB677278-F335-AA88-F811-9A8164F5D47A}"/>
              </a:ext>
            </a:extLst>
          </p:cNvPr>
          <p:cNvSpPr/>
          <p:nvPr/>
        </p:nvSpPr>
        <p:spPr bwMode="gray">
          <a:xfrm>
            <a:off x="8782041" y="3252160"/>
            <a:ext cx="2438219" cy="5417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91440" rIns="91440" bIns="91440" rtlCol="0" anchor="ctr"/>
          <a:lstStyle/>
          <a:p>
            <a:endParaRPr lang="it-IT" sz="1000" b="1" kern="0">
              <a:solidFill>
                <a:srgbClr val="1C3D26"/>
              </a:solidFill>
              <a:latin typeface="Aptos"/>
            </a:endParaRPr>
          </a:p>
        </p:txBody>
      </p:sp>
      <p:sp>
        <p:nvSpPr>
          <p:cNvPr id="50" name="Rectangle 49" descr="Title for the third box:&#10;        - Must be in bold&#10;        - Should be 2 words&#10;        - Must be clear and descriptive&#10; I.e. **Generative AI*">
            <a:extLst>
              <a:ext uri="{FF2B5EF4-FFF2-40B4-BE49-F238E27FC236}">
                <a16:creationId xmlns:a16="http://schemas.microsoft.com/office/drawing/2014/main" id="{62DD30FC-91E1-AA3B-9205-4BEBB4F0925B}"/>
              </a:ext>
            </a:extLst>
          </p:cNvPr>
          <p:cNvSpPr/>
          <p:nvPr/>
        </p:nvSpPr>
        <p:spPr bwMode="gray">
          <a:xfrm>
            <a:off x="8813150" y="3331498"/>
            <a:ext cx="2376000" cy="383024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sz="1400" b="1">
                <a:latin typeface="Aptos"/>
              </a:rPr>
              <a:t>Azioni Strategiche</a:t>
            </a:r>
          </a:p>
        </p:txBody>
      </p:sp>
      <p:sp>
        <p:nvSpPr>
          <p:cNvPr id="51" name="Rectangle 50" descr="Text content for first section:&#10;        - Must be a paragraph between 15-20 words&#10;        - Must highlight key concepts in **bold** (2-3 terms maximum)&#10;        - Must be complete, clear, and impactful&#10;        - Can use list or bullet points to be more concise&#10;                -The content must differ from the text in other boxes&#10;        - Should connect logically to other text boxes ">
            <a:extLst>
              <a:ext uri="{FF2B5EF4-FFF2-40B4-BE49-F238E27FC236}">
                <a16:creationId xmlns:a16="http://schemas.microsoft.com/office/drawing/2014/main" id="{C8C259D6-0EEC-D101-1096-65F48B847AD8}"/>
              </a:ext>
            </a:extLst>
          </p:cNvPr>
          <p:cNvSpPr/>
          <p:nvPr/>
        </p:nvSpPr>
        <p:spPr bwMode="gray">
          <a:xfrm>
            <a:off x="1060338" y="4102184"/>
            <a:ext cx="2169885" cy="1803101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sz="1200" dirty="0" err="1">
                <a:latin typeface="Aptos"/>
              </a:rPr>
              <a:t>Identificata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un'opportunità</a:t>
            </a:r>
            <a:r>
              <a:rPr sz="1200" dirty="0">
                <a:latin typeface="Aptos"/>
              </a:rPr>
              <a:t> di </a:t>
            </a:r>
            <a:r>
              <a:rPr sz="1200" b="1" dirty="0" err="1">
                <a:latin typeface="Aptos"/>
              </a:rPr>
              <a:t>aumento</a:t>
            </a:r>
            <a:r>
              <a:rPr sz="1200" b="1" dirty="0">
                <a:latin typeface="Aptos"/>
              </a:rPr>
              <a:t> </a:t>
            </a:r>
            <a:r>
              <a:rPr sz="1200" b="1" dirty="0" err="1">
                <a:latin typeface="Aptos"/>
              </a:rPr>
              <a:t>dei</a:t>
            </a:r>
            <a:r>
              <a:rPr sz="1200" b="1" dirty="0">
                <a:latin typeface="Aptos"/>
              </a:rPr>
              <a:t> </a:t>
            </a:r>
            <a:r>
              <a:rPr sz="1200" b="1" dirty="0" err="1">
                <a:latin typeface="Aptos"/>
              </a:rPr>
              <a:t>ricavi</a:t>
            </a:r>
            <a:r>
              <a:rPr sz="1200" b="1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ottimizzando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prezzi</a:t>
            </a:r>
            <a:r>
              <a:rPr sz="1200" dirty="0">
                <a:latin typeface="Aptos"/>
              </a:rPr>
              <a:t> per </a:t>
            </a:r>
            <a:r>
              <a:rPr sz="1200" dirty="0" err="1">
                <a:latin typeface="Aptos"/>
              </a:rPr>
              <a:t>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periodi</a:t>
            </a:r>
            <a:r>
              <a:rPr sz="1200" dirty="0">
                <a:latin typeface="Aptos"/>
              </a:rPr>
              <a:t> di </a:t>
            </a:r>
            <a:r>
              <a:rPr sz="1200" dirty="0" err="1">
                <a:latin typeface="Aptos"/>
              </a:rPr>
              <a:t>alta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domanda</a:t>
            </a:r>
            <a:r>
              <a:rPr sz="1200" dirty="0">
                <a:latin typeface="Aptos"/>
              </a:rPr>
              <a:t> e </a:t>
            </a:r>
            <a:r>
              <a:rPr sz="1200" dirty="0" err="1">
                <a:latin typeface="Aptos"/>
              </a:rPr>
              <a:t>gestendo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rischi</a:t>
            </a:r>
            <a:r>
              <a:rPr sz="1200" dirty="0">
                <a:latin typeface="Aptos"/>
              </a:rPr>
              <a:t> di </a:t>
            </a:r>
            <a:r>
              <a:rPr sz="1200" dirty="0" err="1">
                <a:latin typeface="Aptos"/>
              </a:rPr>
              <a:t>cancellazione</a:t>
            </a:r>
            <a:endParaRPr sz="1200" dirty="0">
              <a:latin typeface="Aptos"/>
            </a:endParaRPr>
          </a:p>
        </p:txBody>
      </p:sp>
      <p:sp>
        <p:nvSpPr>
          <p:cNvPr id="53" name="Rectangle 52" descr="Text content for second section:&#10;        - Must be a paragraph between 15-20 words&#10;        - Must highlight key concepts in **bold** (2-3 terms maximum)&#10;        - Must be complete, clear, and impactful&#10;        - Can use list or bullet points to be more concise&#10;                -The content must differ from the text in other boxes&#10;        - Should connect logically to other text boxes ">
            <a:extLst>
              <a:ext uri="{FF2B5EF4-FFF2-40B4-BE49-F238E27FC236}">
                <a16:creationId xmlns:a16="http://schemas.microsoft.com/office/drawing/2014/main" id="{600B69D2-8D14-09FD-7204-39EDF47D46C4}"/>
              </a:ext>
            </a:extLst>
          </p:cNvPr>
          <p:cNvSpPr/>
          <p:nvPr/>
        </p:nvSpPr>
        <p:spPr bwMode="gray">
          <a:xfrm>
            <a:off x="5011759" y="4102184"/>
            <a:ext cx="2169885" cy="1803101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sz="1200" dirty="0" err="1">
                <a:latin typeface="Aptos"/>
              </a:rPr>
              <a:t>Gli</a:t>
            </a:r>
            <a:r>
              <a:rPr sz="1200" dirty="0">
                <a:latin typeface="Aptos"/>
              </a:rPr>
              <a:t> insight sui </a:t>
            </a:r>
            <a:r>
              <a:rPr sz="1200" dirty="0" err="1">
                <a:latin typeface="Aptos"/>
              </a:rPr>
              <a:t>segmenti</a:t>
            </a:r>
            <a:r>
              <a:rPr sz="1200" dirty="0">
                <a:latin typeface="Aptos"/>
              </a:rPr>
              <a:t> di </a:t>
            </a:r>
            <a:r>
              <a:rPr sz="1200" dirty="0" err="1">
                <a:latin typeface="Aptos"/>
              </a:rPr>
              <a:t>clientela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consentono</a:t>
            </a:r>
            <a:r>
              <a:rPr sz="1200" dirty="0">
                <a:latin typeface="Aptos"/>
              </a:rPr>
              <a:t> </a:t>
            </a:r>
            <a:r>
              <a:rPr sz="1200" b="1" dirty="0" err="1">
                <a:latin typeface="Aptos"/>
              </a:rPr>
              <a:t>campagne</a:t>
            </a:r>
            <a:r>
              <a:rPr sz="1200" b="1" dirty="0">
                <a:latin typeface="Aptos"/>
              </a:rPr>
              <a:t> marketing </a:t>
            </a:r>
            <a:r>
              <a:rPr sz="1200" b="1" dirty="0" err="1">
                <a:latin typeface="Aptos"/>
              </a:rPr>
              <a:t>mirate</a:t>
            </a:r>
            <a:r>
              <a:rPr sz="1200" dirty="0">
                <a:latin typeface="Aptos"/>
              </a:rPr>
              <a:t> e </a:t>
            </a:r>
            <a:r>
              <a:rPr sz="1200" dirty="0" err="1">
                <a:latin typeface="Aptos"/>
              </a:rPr>
              <a:t>servizi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personalizzati</a:t>
            </a:r>
            <a:r>
              <a:rPr sz="1200" dirty="0">
                <a:latin typeface="Aptos"/>
              </a:rPr>
              <a:t>, </a:t>
            </a:r>
            <a:r>
              <a:rPr sz="1200" dirty="0" err="1">
                <a:latin typeface="Aptos"/>
              </a:rPr>
              <a:t>migliorando</a:t>
            </a:r>
            <a:r>
              <a:rPr sz="1200" dirty="0">
                <a:latin typeface="Aptos"/>
              </a:rPr>
              <a:t> la </a:t>
            </a:r>
            <a:r>
              <a:rPr sz="1200" dirty="0" err="1">
                <a:latin typeface="Aptos"/>
              </a:rPr>
              <a:t>soddisfazione</a:t>
            </a:r>
            <a:r>
              <a:rPr sz="1200" dirty="0">
                <a:latin typeface="Aptos"/>
              </a:rPr>
              <a:t> e la </a:t>
            </a:r>
            <a:r>
              <a:rPr sz="1200" b="1" dirty="0" err="1">
                <a:latin typeface="Aptos"/>
              </a:rPr>
              <a:t>fedeltà</a:t>
            </a:r>
            <a:r>
              <a:rPr sz="1200" b="1" dirty="0">
                <a:latin typeface="Aptos"/>
              </a:rPr>
              <a:t> </a:t>
            </a:r>
            <a:r>
              <a:rPr sz="1200" b="1" dirty="0" err="1">
                <a:latin typeface="Aptos"/>
              </a:rPr>
              <a:t>degli</a:t>
            </a:r>
            <a:r>
              <a:rPr sz="1200" b="1" dirty="0">
                <a:latin typeface="Aptos"/>
              </a:rPr>
              <a:t> </a:t>
            </a:r>
            <a:r>
              <a:rPr sz="1200" b="1" dirty="0" err="1">
                <a:latin typeface="Aptos"/>
              </a:rPr>
              <a:t>ospiti</a:t>
            </a:r>
            <a:endParaRPr sz="1200" dirty="0">
              <a:latin typeface="Aptos"/>
            </a:endParaRPr>
          </a:p>
        </p:txBody>
      </p:sp>
      <p:sp>
        <p:nvSpPr>
          <p:cNvPr id="55" name="Rectangle 54" descr="Text content for third section:&#10;        - Must be a paragraph between 15-20 words&#10;        - Must highlight key concepts in **bold** (2-3 terms maximum)&#10;        - Must be complete, clear, and impactful&#10;        - Can use list or bullet points to be more concise&#10;                -The content must differ from the text in other boxes&#10;        - Should connect logically to other text boxes ">
            <a:extLst>
              <a:ext uri="{FF2B5EF4-FFF2-40B4-BE49-F238E27FC236}">
                <a16:creationId xmlns:a16="http://schemas.microsoft.com/office/drawing/2014/main" id="{C221C765-F675-5B84-99CB-966390EBCE24}"/>
              </a:ext>
            </a:extLst>
          </p:cNvPr>
          <p:cNvSpPr/>
          <p:nvPr/>
        </p:nvSpPr>
        <p:spPr bwMode="gray">
          <a:xfrm>
            <a:off x="8916208" y="4102184"/>
            <a:ext cx="2169885" cy="1803101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rmAutofit/>
          </a:bodyPr>
          <a:lstStyle/>
          <a:p>
            <a:r>
              <a:rPr sz="1200" dirty="0">
                <a:latin typeface="Aptos"/>
              </a:rPr>
              <a:t>- </a:t>
            </a:r>
            <a:r>
              <a:rPr sz="1200" dirty="0" err="1">
                <a:latin typeface="Aptos"/>
              </a:rPr>
              <a:t>Lanciare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offerte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personalizzate</a:t>
            </a:r>
            <a:r>
              <a:rPr sz="1200" dirty="0">
                <a:latin typeface="Aptos"/>
              </a:rPr>
              <a:t> per </a:t>
            </a:r>
            <a:r>
              <a:rPr sz="1200" dirty="0" err="1">
                <a:latin typeface="Aptos"/>
              </a:rPr>
              <a:t>i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segmenti</a:t>
            </a:r>
            <a:r>
              <a:rPr sz="1200" dirty="0">
                <a:latin typeface="Aptos"/>
              </a:rPr>
              <a:t> '</a:t>
            </a:r>
            <a:r>
              <a:rPr sz="1200" dirty="0" err="1">
                <a:latin typeface="Aptos"/>
              </a:rPr>
              <a:t>Famiglie</a:t>
            </a:r>
            <a:r>
              <a:rPr sz="1200" dirty="0">
                <a:latin typeface="Aptos"/>
              </a:rPr>
              <a:t>' e 'Business'</a:t>
            </a:r>
          </a:p>
          <a:p>
            <a:r>
              <a:rPr sz="1200" dirty="0">
                <a:latin typeface="Aptos"/>
              </a:rPr>
              <a:t>- </a:t>
            </a:r>
            <a:r>
              <a:rPr sz="1200" dirty="0" err="1">
                <a:latin typeface="Aptos"/>
              </a:rPr>
              <a:t>Utilizzare</a:t>
            </a:r>
            <a:r>
              <a:rPr sz="1200" dirty="0">
                <a:latin typeface="Aptos"/>
              </a:rPr>
              <a:t> il </a:t>
            </a:r>
            <a:r>
              <a:rPr sz="1200" dirty="0" err="1">
                <a:latin typeface="Aptos"/>
              </a:rPr>
              <a:t>modello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predittivo</a:t>
            </a:r>
            <a:r>
              <a:rPr sz="1200" dirty="0">
                <a:latin typeface="Aptos"/>
              </a:rPr>
              <a:t> per </a:t>
            </a:r>
            <a:r>
              <a:rPr sz="1200" dirty="0" err="1">
                <a:latin typeface="Aptos"/>
              </a:rPr>
              <a:t>gestire</a:t>
            </a:r>
            <a:r>
              <a:rPr sz="1200" dirty="0">
                <a:latin typeface="Aptos"/>
              </a:rPr>
              <a:t> </a:t>
            </a:r>
            <a:r>
              <a:rPr sz="1200" dirty="0" err="1">
                <a:latin typeface="Aptos"/>
              </a:rPr>
              <a:t>l'overbooking</a:t>
            </a:r>
            <a:endParaRPr sz="1200" dirty="0">
              <a:latin typeface="Aptos"/>
            </a:endParaRP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824" y="2178501"/>
            <a:ext cx="438912" cy="438912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245" y="2178501"/>
            <a:ext cx="438912" cy="438912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1694" y="2178501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Brand_Theme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Brand_Theme" id="{E5778285-F657-46FA-83E9-5ECC214999D3}" vid="{931F9C79-6C51-4118-B787-859488224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8c75f72-6986-4e40-9d12-e2995a2bbf5d" xsi:nil="true"/>
    <lcf76f155ced4ddcb4097134ff3c332f xmlns="235e017c-79f8-404c-9ce5-511aba15440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92070686FDD04D9CF8BD6EF5D42678" ma:contentTypeVersion="16" ma:contentTypeDescription="Create a new document." ma:contentTypeScope="" ma:versionID="8f3fd0a54b2d3b413b0972bd661d9f51">
  <xsd:schema xmlns:xsd="http://www.w3.org/2001/XMLSchema" xmlns:xs="http://www.w3.org/2001/XMLSchema" xmlns:p="http://schemas.microsoft.com/office/2006/metadata/properties" xmlns:ns2="235e017c-79f8-404c-9ce5-511aba15440c" xmlns:ns3="38c75f72-6986-4e40-9d12-e2995a2bbf5d" targetNamespace="http://schemas.microsoft.com/office/2006/metadata/properties" ma:root="true" ma:fieldsID="e2af27701ae413b1d6e083bc6bfaf6c5" ns2:_="" ns3:_="">
    <xsd:import namespace="235e017c-79f8-404c-9ce5-511aba15440c"/>
    <xsd:import namespace="38c75f72-6986-4e40-9d12-e2995a2bbf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5e017c-79f8-404c-9ce5-511aba1544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c75f72-6986-4e40-9d12-e2995a2bbf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6f31f4-ed43-4f41-96e9-b875fdf38f29}" ma:internalName="TaxCatchAll" ma:showField="CatchAllData" ma:web="38c75f72-6986-4e40-9d12-e2995a2bbf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TemplafySlideTemplateConfiguration><![CDATA[{"slideVersion":2,"isValidatorEnabled":false,"isLocked":false,"elementsMetadata":[],"slideId":"638427368755697593","enableDocumentContentUpdater":false,"version":"2.0"}]]></TemplafySlideTemplateConfiguration>
</file>

<file path=customXml/item4.xml><?xml version="1.0" encoding="utf-8"?>
<TemplafyTemplateConfiguration><![CDATA[{"elementsMetadata":[],"transformationConfigurations":[],"templateName":"Deloitte Network 16x9 OnScreen_2025","templateDescription":"Template Deloitte Network per proiezione | aggiornato con font Aptos","enableDocumentContentUpdater":false,"version":"2.0"}]]></TemplafyTemplateConfiguration>
</file>

<file path=customXml/item5.xml><?xml version="1.0" encoding="utf-8"?>
<TemplafyFormConfiguration><![CDATA[{"formFields":[],"formDataEntries":[]}]]></Templafy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BF235D-5BAD-4A08-AEE0-5E29BE15689F}">
  <ds:schemaRefs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documentManagement/types"/>
    <ds:schemaRef ds:uri="235e017c-79f8-404c-9ce5-511aba15440c"/>
    <ds:schemaRef ds:uri="http://purl.org/dc/dcmitype/"/>
    <ds:schemaRef ds:uri="http://purl.org/dc/terms/"/>
    <ds:schemaRef ds:uri="http://schemas.openxmlformats.org/package/2006/metadata/core-properties"/>
    <ds:schemaRef ds:uri="38c75f72-6986-4e40-9d12-e2995a2bbf5d"/>
  </ds:schemaRefs>
</ds:datastoreItem>
</file>

<file path=customXml/itemProps2.xml><?xml version="1.0" encoding="utf-8"?>
<ds:datastoreItem xmlns:ds="http://schemas.openxmlformats.org/officeDocument/2006/customXml" ds:itemID="{FB4C62DB-01A5-45D0-92D6-88381CFB85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5e017c-79f8-404c-9ce5-511aba15440c"/>
    <ds:schemaRef ds:uri="38c75f72-6986-4e40-9d12-e2995a2bbf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A09AD1-F959-41BF-B575-22D7AB2B9652}">
  <ds:schemaRefs/>
</ds:datastoreItem>
</file>

<file path=customXml/itemProps4.xml><?xml version="1.0" encoding="utf-8"?>
<ds:datastoreItem xmlns:ds="http://schemas.openxmlformats.org/officeDocument/2006/customXml" ds:itemID="{F677CB49-4BDA-4B0E-9543-C9D968F4B2CB}">
  <ds:schemaRefs/>
</ds:datastoreItem>
</file>

<file path=customXml/itemProps5.xml><?xml version="1.0" encoding="utf-8"?>
<ds:datastoreItem xmlns:ds="http://schemas.openxmlformats.org/officeDocument/2006/customXml" ds:itemID="{50ACCC52-F647-4484-82AA-0F3F2833AA8D}">
  <ds:schemaRefs/>
</ds:datastoreItem>
</file>

<file path=customXml/itemProps6.xml><?xml version="1.0" encoding="utf-8"?>
<ds:datastoreItem xmlns:ds="http://schemas.openxmlformats.org/officeDocument/2006/customXml" ds:itemID="{90DEE20E-F35C-42FF-ABE6-D6D551E81C0F}">
  <ds:schemaRefs/>
</ds:datastoreItem>
</file>

<file path=customXml/itemProps7.xml><?xml version="1.0" encoding="utf-8"?>
<ds:datastoreItem xmlns:ds="http://schemas.openxmlformats.org/officeDocument/2006/customXml" ds:itemID="{66E6CC2D-2343-40C9-BF57-ACB940668A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Privilege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2370</TotalTime>
  <Words>909</Words>
  <Application>Microsoft Office PowerPoint</Application>
  <PresentationFormat>Widescreen</PresentationFormat>
  <Paragraphs>78</Paragraphs>
  <Slides>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Verdana</vt:lpstr>
      <vt:lpstr>Wingdings 2</vt:lpstr>
      <vt:lpstr>Deloitte_Brand_Theme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16x9 Onscreen PPT</dc:title>
  <dc:creator>Guarino, Siria</dc:creator>
  <cp:lastModifiedBy>Michele Marino</cp:lastModifiedBy>
  <cp:revision>21</cp:revision>
  <dcterms:created xsi:type="dcterms:W3CDTF">2025-04-11T10:10:11Z</dcterms:created>
  <dcterms:modified xsi:type="dcterms:W3CDTF">2026-03-31T17:52:21Z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2021-04-05T20:58:38Z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9ab57f92-f9f5-4e1c-bb56-f04159416863</vt:lpwstr>
  </property>
  <property fmtid="{D5CDD505-2E9C-101B-9397-08002B2CF9AE}" pid="8" name="MSIP_Label_ea60d57e-af5b-4752-ac57-3e4f28ca11dc_ContentBits">
    <vt:lpwstr>0</vt:lpwstr>
  </property>
  <property fmtid="{D5CDD505-2E9C-101B-9397-08002B2CF9AE}" pid="9" name="MediaServiceImageTags">
    <vt:lpwstr/>
  </property>
  <property fmtid="{D5CDD505-2E9C-101B-9397-08002B2CF9AE}" pid="10" name="TemplafyTimeStamp">
    <vt:lpwstr>2025-03-18T11:16:37</vt:lpwstr>
  </property>
  <property fmtid="{D5CDD505-2E9C-101B-9397-08002B2CF9AE}" pid="11" name="TemplafyTenantId">
    <vt:lpwstr>deloittecm</vt:lpwstr>
  </property>
  <property fmtid="{D5CDD505-2E9C-101B-9397-08002B2CF9AE}" pid="12" name="TemplafyTemplateId">
    <vt:lpwstr>638248494425998935</vt:lpwstr>
  </property>
  <property fmtid="{D5CDD505-2E9C-101B-9397-08002B2CF9AE}" pid="13" name="TemplafyUserProfileId">
    <vt:lpwstr>638109450311433024</vt:lpwstr>
  </property>
  <property fmtid="{D5CDD505-2E9C-101B-9397-08002B2CF9AE}" pid="14" name="TemplafyFromBlank">
    <vt:bool>false</vt:bool>
  </property>
  <property fmtid="{D5CDD505-2E9C-101B-9397-08002B2CF9AE}" pid="15" name="ContentTypeId">
    <vt:lpwstr>0x010100B092070686FDD04D9CF8BD6EF5D42678</vt:lpwstr>
  </property>
</Properties>
</file>